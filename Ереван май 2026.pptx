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8" r:id="rId1"/>
  </p:sldMasterIdLst>
  <p:notesMasterIdLst>
    <p:notesMasterId r:id="rId29"/>
  </p:notesMasterIdLst>
  <p:sldIdLst>
    <p:sldId id="545" r:id="rId2"/>
    <p:sldId id="547" r:id="rId3"/>
    <p:sldId id="548" r:id="rId4"/>
    <p:sldId id="549" r:id="rId5"/>
    <p:sldId id="552" r:id="rId6"/>
    <p:sldId id="554" r:id="rId7"/>
    <p:sldId id="550" r:id="rId8"/>
    <p:sldId id="551" r:id="rId9"/>
    <p:sldId id="553" r:id="rId10"/>
    <p:sldId id="485" r:id="rId11"/>
    <p:sldId id="521" r:id="rId12"/>
    <p:sldId id="531" r:id="rId13"/>
    <p:sldId id="526" r:id="rId14"/>
    <p:sldId id="538" r:id="rId15"/>
    <p:sldId id="533" r:id="rId16"/>
    <p:sldId id="555" r:id="rId17"/>
    <p:sldId id="556" r:id="rId18"/>
    <p:sldId id="532" r:id="rId19"/>
    <p:sldId id="534" r:id="rId20"/>
    <p:sldId id="546" r:id="rId21"/>
    <p:sldId id="539" r:id="rId22"/>
    <p:sldId id="540" r:id="rId23"/>
    <p:sldId id="541" r:id="rId24"/>
    <p:sldId id="542" r:id="rId25"/>
    <p:sldId id="543" r:id="rId26"/>
    <p:sldId id="544" r:id="rId27"/>
    <p:sldId id="478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van4995@gmail.com" initials="i" lastIdx="3" clrIdx="0">
    <p:extLst>
      <p:ext uri="{19B8F6BF-5375-455C-9EA6-DF929625EA0E}">
        <p15:presenceInfo xmlns:p15="http://schemas.microsoft.com/office/powerpoint/2012/main" userId="5f2ca59b9e73ce2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432FF"/>
    <a:srgbClr val="97D85E"/>
    <a:srgbClr val="ABF265"/>
    <a:srgbClr val="00652E"/>
    <a:srgbClr val="F989FF"/>
    <a:srgbClr val="3DD8FF"/>
    <a:srgbClr val="43FF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1348"/>
    <p:restoredTop sz="95735" autoAdjust="0"/>
  </p:normalViewPr>
  <p:slideViewPr>
    <p:cSldViewPr snapToGrid="0" snapToObjects="1">
      <p:cViewPr varScale="1">
        <p:scale>
          <a:sx n="119" d="100"/>
          <a:sy n="119" d="100"/>
        </p:scale>
        <p:origin x="240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569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commentAuthors" Target="commentAuthors.xml"/><Relationship Id="rId8" Type="http://schemas.openxmlformats.org/officeDocument/2006/relationships/slide" Target="slides/slide7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03-20T15:11:41.732" idx="3">
    <p:pos x="7080" y="3240"/>
    <p:text/>
    <p:extLst>
      <p:ext uri="{C676402C-5697-4E1C-873F-D02D1690AC5C}">
        <p15:threadingInfo xmlns:p15="http://schemas.microsoft.com/office/powerpoint/2012/main" timeZoneBias="-1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89F9D6-0936-0A44-8D77-FCADF68F9906}" type="datetimeFigureOut">
              <a:rPr lang="en-US" smtClean="0"/>
              <a:t>5/12/26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A951B4-D45D-3C46-AC4A-CB7D1C8721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8606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5800" y="1346947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85800" y="4282763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85800" y="1484779"/>
            <a:ext cx="7772400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7234780" y="4107023"/>
            <a:ext cx="914400" cy="914400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59333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6400" b="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4CD3-204F-4468-8EE4-28A6668D006A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805" y="6272785"/>
            <a:ext cx="474573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44280" y="4227195"/>
            <a:ext cx="895401" cy="640080"/>
          </a:xfrm>
        </p:spPr>
        <p:txBody>
          <a:bodyPr/>
          <a:lstStyle>
            <a:lvl1pPr>
              <a:defRPr sz="2800" b="1"/>
            </a:lvl1pPr>
          </a:lstStyle>
          <a:p>
            <a:fld id="{57AF16DE-A0D5-4438-950F-5B1E159C2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164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4CD3-204F-4468-8EE4-28A6668D006A}" type="datetimeFigureOut">
              <a:rPr lang="en-US" smtClean="0"/>
              <a:t>5/12/26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523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B1A24CD3-204F-4468-8EE4-28A6668D006A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4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0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fld id="{57AF16DE-A0D5-4438-950F-5B1E159C2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978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4CD3-204F-4468-8EE4-28A6668D006A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204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4CD3-204F-4468-8EE4-28A6668D006A}" type="datetimeFigureOut">
              <a:rPr lang="en-US" smtClean="0"/>
              <a:t>5/12/26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066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B1A24CD3-204F-4468-8EE4-28A6668D006A}" type="datetimeFigureOut">
              <a:rPr lang="en-US" smtClean="0"/>
              <a:t>5/12/26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593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4CD3-204F-4468-8EE4-28A6668D006A}" type="datetimeFigureOut">
              <a:rPr lang="en-US" smtClean="0"/>
              <a:t>5/12/26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005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4CD3-204F-4468-8EE4-28A6668D006A}" type="datetimeFigureOut">
              <a:rPr lang="en-US" smtClean="0"/>
              <a:t>5/12/26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144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4CD3-204F-4468-8EE4-28A6668D006A}" type="datetimeFigureOut">
              <a:rPr lang="en-US" smtClean="0"/>
              <a:t>5/12/26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381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4CD3-204F-4468-8EE4-28A6668D006A}" type="datetimeFigureOut">
              <a:rPr lang="en-US" smtClean="0"/>
              <a:t>5/12/26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864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4CD3-204F-4468-8EE4-28A6668D006A}" type="datetimeFigureOut">
              <a:rPr lang="en-US" smtClean="0"/>
              <a:t>5/12/26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616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B1A24CD3-204F-4468-8EE4-28A6668D006A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57AF16DE-A0D5-4438-950F-5B1E159C2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96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mailto:igor.rouzine@iephb.r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E508A-1E98-B37F-E188-686328D7A3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5400" dirty="0"/>
              <a:t>Estimating Adaptive Landscape from Genomic Data in the Presence of Strong Genetic Linkage</a:t>
            </a:r>
            <a:endParaRPr lang="en-RU" sz="54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0459B41-CC80-BD0C-DE15-A6A7E4BCF6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0396" y="4666030"/>
            <a:ext cx="5064652" cy="195535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Igor </a:t>
            </a:r>
            <a:r>
              <a:rPr lang="en-US" dirty="0" err="1"/>
              <a:t>Rouzine</a:t>
            </a:r>
            <a:endParaRPr lang="en-US" dirty="0"/>
          </a:p>
          <a:p>
            <a:r>
              <a:rPr lang="en-US" dirty="0"/>
              <a:t>Group of population genetics and virology</a:t>
            </a:r>
          </a:p>
          <a:p>
            <a:r>
              <a:rPr lang="en-US" dirty="0"/>
              <a:t>Sechenov Institute of Evolutionary Physiology </a:t>
            </a:r>
            <a:endParaRPr lang="ru-RU" dirty="0"/>
          </a:p>
          <a:p>
            <a:r>
              <a:rPr lang="en-US" dirty="0"/>
              <a:t>and Biochemistry</a:t>
            </a:r>
          </a:p>
          <a:p>
            <a:r>
              <a:rPr lang="en-US" dirty="0"/>
              <a:t>RSF grant 24-24-00529</a:t>
            </a: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igor.rouzine@iephb.ru</a:t>
            </a:r>
            <a:endParaRPr lang="en-R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BBA39D1-3480-6BC1-52D8-9231B2AC74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6773" y="3988246"/>
            <a:ext cx="2107227" cy="1955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585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33F3DA1-732A-150D-85F8-7ED625E15F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29961" y="1828483"/>
            <a:ext cx="3657600" cy="640080"/>
          </a:xfrm>
        </p:spPr>
        <p:txBody>
          <a:bodyPr/>
          <a:lstStyle/>
          <a:p>
            <a:r>
              <a:rPr lang="en-US" dirty="0"/>
              <a:t>Sergey V Lagunov</a:t>
            </a:r>
            <a:endParaRPr lang="en-RU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93D2AF6-1CEA-06B5-4C13-612D01C1178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385" y="2617557"/>
            <a:ext cx="2702617" cy="3292475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D227E4-8204-9049-333D-18B5A48FAB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1828483"/>
            <a:ext cx="3657600" cy="640080"/>
          </a:xfrm>
        </p:spPr>
        <p:txBody>
          <a:bodyPr/>
          <a:lstStyle/>
          <a:p>
            <a:r>
              <a:rPr lang="en-US" dirty="0"/>
              <a:t>Igor V Likhachev</a:t>
            </a:r>
            <a:endParaRPr lang="en-RU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8CDDFD4-1817-0A01-88C4-7EE44A5EC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6034" y="195788"/>
            <a:ext cx="7772400" cy="1609344"/>
          </a:xfrm>
        </p:spPr>
        <p:txBody>
          <a:bodyPr/>
          <a:lstStyle/>
          <a:p>
            <a:r>
              <a:rPr lang="en-RU" dirty="0"/>
              <a:t>interns who did the work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C2B0266-4EBD-08E9-C2D7-2F6029F071AA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63" y="2617557"/>
            <a:ext cx="3292475" cy="329247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E275B84-F913-CF6C-D24C-F4D068BD9060}"/>
              </a:ext>
            </a:extLst>
          </p:cNvPr>
          <p:cNvSpPr/>
          <p:nvPr/>
        </p:nvSpPr>
        <p:spPr>
          <a:xfrm>
            <a:off x="8301291" y="6036392"/>
            <a:ext cx="722161" cy="7657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547808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98C81-26AA-BD20-CEE1-64985E272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B67BB-AF34-9396-902E-A857394AD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3130" y="603264"/>
            <a:ext cx="6960870" cy="3520440"/>
          </a:xfrm>
        </p:spPr>
        <p:txBody>
          <a:bodyPr>
            <a:normAutofit/>
          </a:bodyPr>
          <a:lstStyle/>
          <a:p>
            <a:r>
              <a:rPr lang="en-US" dirty="0"/>
              <a:t>Estimating the fitness effect of mutations in E. Coli</a:t>
            </a:r>
            <a:endParaRPr lang="en-RU" sz="40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4A2AD58-8B5F-E48E-924C-B11CDFA694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82807" y="5020056"/>
            <a:ext cx="6789420" cy="1066800"/>
          </a:xfrm>
        </p:spPr>
        <p:txBody>
          <a:bodyPr/>
          <a:lstStyle/>
          <a:p>
            <a:r>
              <a:rPr lang="en-US" dirty="0"/>
              <a:t>Sergey Lagunov</a:t>
            </a:r>
          </a:p>
        </p:txBody>
      </p:sp>
      <p:pic>
        <p:nvPicPr>
          <p:cNvPr id="3" name="Content Placeholder 7">
            <a:extLst>
              <a:ext uri="{FF2B5EF4-FFF2-40B4-BE49-F238E27FC236}">
                <a16:creationId xmlns:a16="http://schemas.microsoft.com/office/drawing/2014/main" id="{5E87C835-93EE-E187-4B06-E7446A1FF8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9563" y="4123704"/>
            <a:ext cx="2244437" cy="2734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570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76814-0785-4442-0AA5-10E99EC25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1609344"/>
          </a:xfrm>
        </p:spPr>
        <p:txBody>
          <a:bodyPr/>
          <a:lstStyle/>
          <a:p>
            <a:r>
              <a:rPr lang="en-RU" dirty="0"/>
              <a:t>Derivation of the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E9BB248-5CBD-6840-3655-B8B509B51032}"/>
                  </a:ext>
                </a:extLst>
              </p:cNvPr>
              <p:cNvSpPr txBox="1"/>
              <p:nvPr/>
            </p:nvSpPr>
            <p:spPr>
              <a:xfrm>
                <a:off x="533400" y="1286178"/>
                <a:ext cx="7924800" cy="54832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1600" dirty="0"/>
                  <a:t>Consider a site with selection coefficient </a:t>
                </a:r>
                <a14:m>
                  <m:oMath xmlns:m="http://schemas.openxmlformats.org/officeDocument/2006/math">
                    <m:r>
                      <a:rPr lang="en-US" sz="160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1600" dirty="0"/>
                  <a:t> in a long genome with total log-fitness W.  Contribution of the site to total fitness:</a:t>
                </a:r>
                <a:endParaRPr lang="en-US" sz="1600" dirty="0">
                  <a:latin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RU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𝑠𝑖𝑡𝑒</m:t>
                        </m:r>
                      </m:sub>
                    </m:sSub>
                    <m:r>
                      <a:rPr lang="en-US" sz="1600">
                        <a:latin typeface="Cambria Math" panose="02040503050406030204" pitchFamily="18" charset="0"/>
                      </a:rPr>
                      <m:t>=0 </m:t>
                    </m:r>
                  </m:oMath>
                </a14:m>
                <a:r>
                  <a:rPr lang="en-US" sz="1600" dirty="0"/>
                  <a:t>and</a:t>
                </a:r>
                <a14:m>
                  <m:oMath xmlns:m="http://schemas.openxmlformats.org/officeDocument/2006/math">
                    <m:r>
                      <a:rPr lang="en-US" sz="160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RU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𝑠𝑖𝑡𝑒</m:t>
                        </m:r>
                      </m:sub>
                    </m:sSub>
                    <m:r>
                      <a:rPr lang="en-US" sz="160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1600" dirty="0"/>
                  <a:t>, for alleles 0 and 1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600" dirty="0"/>
                  <a:t>Entropy S is maximal under the restriction that fitness value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1600" dirty="0"/>
                  <a:t> is fixed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160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160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sz="160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RU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𝑠𝑖𝑡𝑒</m:t>
                          </m:r>
                        </m:sub>
                      </m:sSub>
                      <m:r>
                        <a:rPr lang="en-US" sz="160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i="1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RU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sz="160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RU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𝑠𝑖𝑡𝑒</m:t>
                            </m:r>
                          </m:sub>
                        </m:sSub>
                      </m:e>
                    </m:d>
                    <m:r>
                      <a:rPr lang="en-US" sz="160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RU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</m:d>
                    <m:r>
                      <a:rPr lang="en-US" sz="160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𝛽</m:t>
                    </m:r>
                    <m:sSub>
                      <m:sSubPr>
                        <m:ctrlPr>
                          <a:rPr lang="en-RU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𝑠𝑖𝑡𝑒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sz="1600" dirty="0"/>
                  <a:t>where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𝑑𝑆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𝑑𝑊</m:t>
                    </m:r>
                  </m:oMath>
                </a14:m>
                <a:endParaRPr lang="en-RU" sz="1600" dirty="0"/>
              </a:p>
              <a:p>
                <a:pPr>
                  <a:lnSpc>
                    <a:spcPct val="150000"/>
                  </a:lnSpc>
                </a:pPr>
                <a:r>
                  <a:rPr lang="en-RU" sz="1600" dirty="0"/>
                  <a:t>Fraction of each allele is proportional to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𝑒𝑥𝑝</m:t>
                    </m:r>
                    <m:d>
                      <m:dPr>
                        <m:begChr m:val="["/>
                        <m:endChr m:val="]"/>
                        <m:ctrlPr>
                          <a:rPr lang="en-RU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𝑆</m:t>
                        </m:r>
                        <m:d>
                          <m:dPr>
                            <m:ctrlPr>
                              <a:rPr lang="en-RU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  <m:r>
                              <a:rPr lang="en-US" sz="160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RU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𝑝𝑎𝑖𝑟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n-RU" sz="1600" dirty="0"/>
              </a:p>
              <a:p>
                <a:pPr>
                  <a:lnSpc>
                    <a:spcPct val="150000"/>
                  </a:lnSpc>
                </a:pPr>
                <a:r>
                  <a:rPr lang="en-US" sz="1600" dirty="0"/>
                  <a:t>Hence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RU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sSub>
                      <m:sSubPr>
                        <m:ctrlPr>
                          <a:rPr lang="en-RU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RU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60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RU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RU" sz="16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60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sSub>
                                  <m:sSubPr>
                                    <m:ctrlPr>
                                      <a:rPr lang="en-RU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RU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en-RU" sz="1600" dirty="0"/>
                  <a:t>, </a:t>
                </a:r>
                <a:r>
                  <a:rPr lang="en-US" sz="1600" dirty="0"/>
                  <a:t>frequency of anti-consensus variants denoted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RU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RU" sz="1600" dirty="0">
                    <a:effectLst/>
                  </a:rPr>
                  <a:t> </a:t>
                </a:r>
                <a:endParaRPr lang="en-RU" sz="1600" dirty="0"/>
              </a:p>
              <a:p>
                <a:pPr>
                  <a:lnSpc>
                    <a:spcPct val="150000"/>
                  </a:lnSpc>
                </a:pPr>
                <a:r>
                  <a:rPr lang="en-RU" sz="1600" dirty="0"/>
                  <a:t>Due to difference between consensuis and best fit sequence</a:t>
                </a:r>
              </a:p>
              <a:p>
                <a:pPr>
                  <a:lnSpc>
                    <a:spcPct val="150000"/>
                  </a:lnSpc>
                </a:pPr>
                <a:endParaRPr lang="en-RU" sz="16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n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sSub>
                        <m:sSubPr>
                          <m:ctrlPr>
                            <a:rPr lang="en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RU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RU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en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>
                          <a:latin typeface="Cambria Math" panose="02040503050406030204" pitchFamily="18" charset="0"/>
                        </a:rPr>
                        <m:t>−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RU" dirty="0"/>
              </a:p>
              <a:p>
                <a:endParaRPr lang="en-RU" dirty="0"/>
              </a:p>
              <a:p>
                <a:endParaRPr lang="en-RU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E9BB248-5CBD-6840-3655-B8B509B510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1286178"/>
                <a:ext cx="7924800" cy="5483296"/>
              </a:xfrm>
              <a:prstGeom prst="rect">
                <a:avLst/>
              </a:prstGeom>
              <a:blipFill>
                <a:blip r:embed="rId2"/>
                <a:stretch>
                  <a:fillRect l="-48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7D5CC4E4-C021-92B7-0079-ED5406AA7D20}"/>
              </a:ext>
            </a:extLst>
          </p:cNvPr>
          <p:cNvSpPr txBox="1"/>
          <p:nvPr/>
        </p:nvSpPr>
        <p:spPr>
          <a:xfrm>
            <a:off x="533400" y="6283067"/>
            <a:ext cx="5745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dirty="0">
                <a:solidFill>
                  <a:srgbClr val="0432FF"/>
                </a:solidFill>
              </a:rPr>
              <a:t>Barlukova &amp; Rouzine 2018, Likhachev &amp; Rouzine 2023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C34B21-CFAE-DCB3-E0DD-8E6CEC9E3CA0}"/>
              </a:ext>
            </a:extLst>
          </p:cNvPr>
          <p:cNvSpPr/>
          <p:nvPr/>
        </p:nvSpPr>
        <p:spPr>
          <a:xfrm>
            <a:off x="8301291" y="6036392"/>
            <a:ext cx="722161" cy="7657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488869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61084-4875-D599-4698-B54156B4C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9A8AD85-C3CC-F952-BD1A-9AD6989AB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0"/>
            <a:ext cx="7772400" cy="1609344"/>
          </a:xfrm>
        </p:spPr>
        <p:txBody>
          <a:bodyPr>
            <a:normAutofit/>
          </a:bodyPr>
          <a:lstStyle/>
          <a:p>
            <a:r>
              <a:rPr lang="en-US" dirty="0"/>
              <a:t>Determining constant C </a:t>
            </a:r>
            <a:endParaRPr lang="en-RU" dirty="0"/>
          </a:p>
        </p:txBody>
      </p:sp>
      <p:pic>
        <p:nvPicPr>
          <p:cNvPr id="9" name="Рисунок 1">
            <a:extLst>
              <a:ext uri="{FF2B5EF4-FFF2-40B4-BE49-F238E27FC236}">
                <a16:creationId xmlns:a16="http://schemas.microsoft.com/office/drawing/2014/main" id="{030172C7-E2B3-813F-03B0-417035D85E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931" t="2584" r="2415"/>
          <a:stretch/>
        </p:blipFill>
        <p:spPr bwMode="auto">
          <a:xfrm>
            <a:off x="1779208" y="2120900"/>
            <a:ext cx="5585583" cy="40513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0CE3CF3-74DA-DD49-91D2-87D351EE2F04}"/>
              </a:ext>
            </a:extLst>
          </p:cNvPr>
          <p:cNvSpPr/>
          <p:nvPr/>
        </p:nvSpPr>
        <p:spPr>
          <a:xfrm>
            <a:off x="8301291" y="6036392"/>
            <a:ext cx="722161" cy="7657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2628612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64E22-9B7A-D563-D28B-D8B620C83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B518B78-D755-A12B-4A63-EB08E8EFF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Selection coefficients plotted against their estimates</a:t>
            </a:r>
            <a:r>
              <a:rPr lang="en-RU" dirty="0"/>
              <a:t> (simulation)</a:t>
            </a:r>
          </a:p>
        </p:txBody>
      </p:sp>
      <p:pic>
        <p:nvPicPr>
          <p:cNvPr id="5" name="Рисунок 6">
            <a:extLst>
              <a:ext uri="{FF2B5EF4-FFF2-40B4-BE49-F238E27FC236}">
                <a16:creationId xmlns:a16="http://schemas.microsoft.com/office/drawing/2014/main" id="{2C5BBB90-3B53-889B-DE89-5F864DACC6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78" r="2070"/>
          <a:stretch/>
        </p:blipFill>
        <p:spPr bwMode="auto">
          <a:xfrm>
            <a:off x="1966425" y="2212226"/>
            <a:ext cx="5211149" cy="386864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158DC02-3514-5AAC-FBF0-FC7C48A539AE}"/>
              </a:ext>
            </a:extLst>
          </p:cNvPr>
          <p:cNvSpPr/>
          <p:nvPr/>
        </p:nvSpPr>
        <p:spPr>
          <a:xfrm>
            <a:off x="8301291" y="6036392"/>
            <a:ext cx="722161" cy="7657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33420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9A52B-32B5-9135-8E52-9E35869BE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92FD02E-013F-FEC1-EA9A-ED0B387EF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Correlations between the estimated and the actual values of selection coefficient</a:t>
            </a:r>
            <a:endParaRPr lang="en-RU" dirty="0"/>
          </a:p>
        </p:txBody>
      </p:sp>
      <p:pic>
        <p:nvPicPr>
          <p:cNvPr id="5" name="Рисунок 9">
            <a:extLst>
              <a:ext uri="{FF2B5EF4-FFF2-40B4-BE49-F238E27FC236}">
                <a16:creationId xmlns:a16="http://schemas.microsoft.com/office/drawing/2014/main" id="{F84F6033-7F44-741B-2A7E-AD49C3BE9A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4990" y="2120900"/>
            <a:ext cx="5934020" cy="40513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5D42FF9-BE32-E199-A253-6202A9E5D6A0}"/>
              </a:ext>
            </a:extLst>
          </p:cNvPr>
          <p:cNvSpPr/>
          <p:nvPr/>
        </p:nvSpPr>
        <p:spPr>
          <a:xfrm>
            <a:off x="8301291" y="6036392"/>
            <a:ext cx="722161" cy="7657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3034084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7F585-CBDD-6F76-5406-CC8633F36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AE9666D-19EB-5C2E-0400-D9A147044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32232"/>
            <a:ext cx="8229600" cy="1609344"/>
          </a:xfrm>
        </p:spPr>
        <p:txBody>
          <a:bodyPr>
            <a:normAutofit fontScale="90000"/>
          </a:bodyPr>
          <a:lstStyle/>
          <a:p>
            <a:r>
              <a:rPr lang="en-US" dirty="0"/>
              <a:t>The values of scaled selection coefficient for three chosen generations of </a:t>
            </a:r>
            <a:r>
              <a:rPr lang="en-US" i="1" dirty="0"/>
              <a:t>E. Coli</a:t>
            </a:r>
            <a:endParaRPr lang="en-RU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6A41188-B8B2-D6BD-F7A0-0BD591A7E6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9325" y="2393949"/>
            <a:ext cx="4705350" cy="429169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E534033-785F-0DE1-CC4F-24D447D3A170}"/>
              </a:ext>
            </a:extLst>
          </p:cNvPr>
          <p:cNvSpPr/>
          <p:nvPr/>
        </p:nvSpPr>
        <p:spPr>
          <a:xfrm>
            <a:off x="8301291" y="6036392"/>
            <a:ext cx="722161" cy="7657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5855951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AA36B-7D16-6743-9CDA-E46F3BB86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38AA688-757B-93F8-E216-ABBDCD84C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650" y="17526"/>
            <a:ext cx="8648700" cy="1609344"/>
          </a:xfrm>
        </p:spPr>
        <p:txBody>
          <a:bodyPr>
            <a:normAutofit/>
          </a:bodyPr>
          <a:lstStyle/>
          <a:p>
            <a:r>
              <a:rPr lang="en-US" dirty="0"/>
              <a:t>Histogram of fitness effect of mutation</a:t>
            </a:r>
            <a:endParaRPr lang="en-RU" dirty="0"/>
          </a:p>
        </p:txBody>
      </p:sp>
      <p:pic>
        <p:nvPicPr>
          <p:cNvPr id="2" name="Рисунок 5">
            <a:extLst>
              <a:ext uri="{FF2B5EF4-FFF2-40B4-BE49-F238E27FC236}">
                <a16:creationId xmlns:a16="http://schemas.microsoft.com/office/drawing/2014/main" id="{47EEB058-3B8F-3879-D017-6EE90F5E812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3" t="8056" r="9064" b="6379"/>
          <a:stretch/>
        </p:blipFill>
        <p:spPr bwMode="auto">
          <a:xfrm>
            <a:off x="1328373" y="1371600"/>
            <a:ext cx="6909547" cy="529450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50E1330-CD6F-C542-BFA9-F1A9A58CECAF}"/>
              </a:ext>
            </a:extLst>
          </p:cNvPr>
          <p:cNvSpPr/>
          <p:nvPr/>
        </p:nvSpPr>
        <p:spPr>
          <a:xfrm>
            <a:off x="8301291" y="6036392"/>
            <a:ext cx="722161" cy="7657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0760291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EE098-C11F-0F4C-A7D3-4A1428115BC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14362" y="162853"/>
            <a:ext cx="8834438" cy="993775"/>
          </a:xfrm>
        </p:spPr>
        <p:txBody>
          <a:bodyPr>
            <a:normAutofit/>
          </a:bodyPr>
          <a:lstStyle/>
          <a:p>
            <a:r>
              <a:rPr lang="en-US" dirty="0"/>
              <a:t>variants of Concern</a:t>
            </a:r>
            <a:endParaRPr lang="en-FR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14F08AE-0DE3-5E42-A99A-9D6CE4D3D67F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576" y="1717282"/>
            <a:ext cx="7280366" cy="4758075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5ACFB63-9A84-5B41-DFB7-D48BCD0A0B3A}"/>
              </a:ext>
            </a:extLst>
          </p:cNvPr>
          <p:cNvSpPr txBox="1"/>
          <p:nvPr/>
        </p:nvSpPr>
        <p:spPr>
          <a:xfrm>
            <a:off x="6774153" y="243281"/>
            <a:ext cx="254946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432FF"/>
                </a:solidFill>
                <a:latin typeface="Cambria" panose="02040503050406030204" pitchFamily="18" charset="0"/>
              </a:rPr>
              <a:t>Volz et al 2021</a:t>
            </a:r>
            <a:r>
              <a:rPr lang="ru-RU" sz="1400" dirty="0">
                <a:solidFill>
                  <a:srgbClr val="0432FF"/>
                </a:solidFill>
                <a:latin typeface="Cambria" panose="02040503050406030204" pitchFamily="18" charset="0"/>
              </a:rPr>
              <a:t> </a:t>
            </a:r>
            <a:endParaRPr lang="ru-RU" sz="1400" i="1" dirty="0">
              <a:solidFill>
                <a:srgbClr val="0432FF"/>
              </a:solidFill>
              <a:latin typeface="Cambria" panose="02040503050406030204" pitchFamily="18" charset="0"/>
            </a:endParaRPr>
          </a:p>
          <a:p>
            <a:r>
              <a:rPr lang="en-US" sz="1400" dirty="0">
                <a:solidFill>
                  <a:srgbClr val="0432FF"/>
                </a:solidFill>
                <a:latin typeface="Cambria" panose="02040503050406030204" pitchFamily="18" charset="0"/>
              </a:rPr>
              <a:t>Davies et al 2021</a:t>
            </a:r>
            <a:r>
              <a:rPr lang="ru-RU" sz="1400" dirty="0">
                <a:solidFill>
                  <a:srgbClr val="0432FF"/>
                </a:solidFill>
                <a:latin typeface="Cambria" panose="02040503050406030204" pitchFamily="18" charset="0"/>
              </a:rPr>
              <a:t> </a:t>
            </a:r>
          </a:p>
          <a:p>
            <a:r>
              <a:rPr lang="en-GB" sz="1400" dirty="0">
                <a:solidFill>
                  <a:srgbClr val="0432FF"/>
                </a:solidFill>
                <a:latin typeface="Cambria" panose="02040503050406030204" pitchFamily="18" charset="0"/>
              </a:rPr>
              <a:t>Graham et al 2021</a:t>
            </a:r>
            <a:r>
              <a:rPr lang="ru-RU" sz="1400" dirty="0">
                <a:solidFill>
                  <a:srgbClr val="0432FF"/>
                </a:solidFill>
                <a:latin typeface="Cambria" panose="02040503050406030204" pitchFamily="18" charset="0"/>
              </a:rPr>
              <a:t> </a:t>
            </a:r>
            <a:endParaRPr lang="en-GB" sz="1400" i="1" dirty="0">
              <a:solidFill>
                <a:srgbClr val="0432FF"/>
              </a:solidFill>
              <a:latin typeface="Cambria" panose="02040503050406030204" pitchFamily="18" charset="0"/>
            </a:endParaRPr>
          </a:p>
          <a:p>
            <a:r>
              <a:rPr lang="en-GB" sz="1400" dirty="0">
                <a:solidFill>
                  <a:srgbClr val="0432FF"/>
                </a:solidFill>
                <a:latin typeface="Cambria" panose="02040503050406030204" pitchFamily="18" charset="0"/>
              </a:rPr>
              <a:t>Campbell et al 2021</a:t>
            </a:r>
            <a:r>
              <a:rPr lang="ru-RU" sz="1400" dirty="0">
                <a:solidFill>
                  <a:srgbClr val="0432FF"/>
                </a:solidFill>
                <a:latin typeface="Cambria" panose="02040503050406030204" pitchFamily="18" charset="0"/>
              </a:rPr>
              <a:t> </a:t>
            </a:r>
            <a:endParaRPr lang="ru-RU" sz="1400" i="1" dirty="0">
              <a:solidFill>
                <a:srgbClr val="0432FF"/>
              </a:solidFill>
              <a:latin typeface="Cambria" panose="02040503050406030204" pitchFamily="18" charset="0"/>
            </a:endParaRPr>
          </a:p>
          <a:p>
            <a:r>
              <a:rPr lang="en-US" sz="1400" dirty="0">
                <a:solidFill>
                  <a:srgbClr val="0432FF"/>
                </a:solidFill>
                <a:latin typeface="Cambria" panose="02040503050406030204" pitchFamily="18" charset="0"/>
              </a:rPr>
              <a:t>Davis et al 2021</a:t>
            </a:r>
            <a:r>
              <a:rPr lang="ru-RU" sz="1400" dirty="0">
                <a:solidFill>
                  <a:srgbClr val="0432FF"/>
                </a:solidFill>
                <a:latin typeface="Cambria" panose="02040503050406030204" pitchFamily="18" charset="0"/>
              </a:rPr>
              <a:t> </a:t>
            </a:r>
            <a:endParaRPr lang="en-US" sz="1400" i="1" dirty="0">
              <a:solidFill>
                <a:srgbClr val="0432FF"/>
              </a:solidFill>
              <a:latin typeface="Cambria" panose="02040503050406030204" pitchFamily="18" charset="0"/>
            </a:endParaRPr>
          </a:p>
          <a:p>
            <a:r>
              <a:rPr lang="en-GB" sz="1400" dirty="0">
                <a:solidFill>
                  <a:srgbClr val="0432FF"/>
                </a:solidFill>
                <a:latin typeface="Cambria" panose="02040503050406030204" pitchFamily="18" charset="0"/>
              </a:rPr>
              <a:t>Pegu et al</a:t>
            </a:r>
            <a:r>
              <a:rPr lang="ru-RU" sz="1400" dirty="0">
                <a:solidFill>
                  <a:srgbClr val="0432FF"/>
                </a:solidFill>
                <a:latin typeface="Cambria" panose="02040503050406030204" pitchFamily="18" charset="0"/>
              </a:rPr>
              <a:t>  </a:t>
            </a:r>
            <a:r>
              <a:rPr lang="en-GB" sz="1400" dirty="0">
                <a:solidFill>
                  <a:srgbClr val="0432FF"/>
                </a:solidFill>
                <a:latin typeface="Cambria" panose="02040503050406030204" pitchFamily="18" charset="0"/>
              </a:rPr>
              <a:t>2021</a:t>
            </a:r>
            <a:endParaRPr lang="en-RU" sz="1400" dirty="0">
              <a:latin typeface="Cambria" panose="0204050305040603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8986F9-2838-EAB2-E099-5DCE1308AFE6}"/>
              </a:ext>
            </a:extLst>
          </p:cNvPr>
          <p:cNvSpPr txBox="1"/>
          <p:nvPr/>
        </p:nvSpPr>
        <p:spPr>
          <a:xfrm>
            <a:off x="402605" y="1347950"/>
            <a:ext cx="3653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dirty="0"/>
              <a:t>The first 1. 5 years of pandemics: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1EAB29-8B61-DF97-BA4A-77311E3E0AE5}"/>
              </a:ext>
            </a:extLst>
          </p:cNvPr>
          <p:cNvSpPr/>
          <p:nvPr/>
        </p:nvSpPr>
        <p:spPr>
          <a:xfrm>
            <a:off x="8301291" y="6036392"/>
            <a:ext cx="722161" cy="7657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856465980"/>
      </p:ext>
    </p:extLst>
  </p:cSld>
  <p:clrMapOvr>
    <a:masterClrMapping/>
  </p:clrMapOvr>
  <p:transition spd="slow" advTm="0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C221311-4EC7-064F-B4E9-C4EC85A03484}"/>
              </a:ext>
            </a:extLst>
          </p:cNvPr>
          <p:cNvSpPr txBox="1"/>
          <p:nvPr/>
        </p:nvSpPr>
        <p:spPr>
          <a:xfrm>
            <a:off x="2682923" y="6285950"/>
            <a:ext cx="4941936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350" dirty="0">
                <a:solidFill>
                  <a:srgbClr val="0432FF"/>
                </a:solidFill>
              </a:rPr>
              <a:t>https://</a:t>
            </a:r>
            <a:r>
              <a:rPr lang="en-GB" sz="1350" dirty="0" err="1">
                <a:solidFill>
                  <a:srgbClr val="0432FF"/>
                </a:solidFill>
              </a:rPr>
              <a:t>www.youtube.com</a:t>
            </a:r>
            <a:r>
              <a:rPr lang="en-GB" sz="1350" dirty="0">
                <a:solidFill>
                  <a:srgbClr val="0432FF"/>
                </a:solidFill>
              </a:rPr>
              <a:t>/</a:t>
            </a:r>
            <a:r>
              <a:rPr lang="en-GB" sz="1350" dirty="0" err="1">
                <a:solidFill>
                  <a:srgbClr val="0432FF"/>
                </a:solidFill>
              </a:rPr>
              <a:t>watch?v</a:t>
            </a:r>
            <a:r>
              <a:rPr lang="en-GB" sz="1350" dirty="0">
                <a:solidFill>
                  <a:srgbClr val="0432FF"/>
                </a:solidFill>
              </a:rPr>
              <a:t>=Men9WDWvK9E</a:t>
            </a:r>
            <a:endParaRPr lang="en-FR" sz="1350" dirty="0">
              <a:solidFill>
                <a:srgbClr val="0432F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B12CAF-BEA4-A84D-92BF-2C6565EAF6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887" y="1190678"/>
            <a:ext cx="6968911" cy="467469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88F67FD-4B0F-DA55-16E4-BED7333E5FC2}"/>
              </a:ext>
            </a:extLst>
          </p:cNvPr>
          <p:cNvSpPr txBox="1">
            <a:spLocks/>
          </p:cNvSpPr>
          <p:nvPr/>
        </p:nvSpPr>
        <p:spPr>
          <a:xfrm>
            <a:off x="225910" y="196903"/>
            <a:ext cx="8797541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200" b="0" kern="1200" cap="all" baseline="0">
                <a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Alpha Strain:</a:t>
            </a:r>
            <a:r>
              <a:rPr lang="ru-RU" dirty="0"/>
              <a:t> </a:t>
            </a:r>
            <a:r>
              <a:rPr lang="en-GB" dirty="0"/>
              <a:t>Leap in the Number of Mutations</a:t>
            </a:r>
            <a:endParaRPr lang="en-F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F0C99D-2193-AA80-5DF0-696B8091D021}"/>
              </a:ext>
            </a:extLst>
          </p:cNvPr>
          <p:cNvSpPr txBox="1"/>
          <p:nvPr/>
        </p:nvSpPr>
        <p:spPr>
          <a:xfrm>
            <a:off x="3933351" y="5491559"/>
            <a:ext cx="122054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Time</a:t>
            </a:r>
            <a:endParaRPr lang="en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3DECE6-A79F-E585-4829-6EA660309D21}"/>
              </a:ext>
            </a:extLst>
          </p:cNvPr>
          <p:cNvSpPr txBox="1"/>
          <p:nvPr/>
        </p:nvSpPr>
        <p:spPr>
          <a:xfrm rot="16200000">
            <a:off x="-354368" y="3141064"/>
            <a:ext cx="2150435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Substitutions</a:t>
            </a:r>
            <a:endParaRPr lang="en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5AB3E4-D6EE-C4D0-D196-49EE854429B8}"/>
              </a:ext>
            </a:extLst>
          </p:cNvPr>
          <p:cNvSpPr txBox="1"/>
          <p:nvPr/>
        </p:nvSpPr>
        <p:spPr>
          <a:xfrm>
            <a:off x="520794" y="6285950"/>
            <a:ext cx="13878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sz="1600" dirty="0">
                <a:solidFill>
                  <a:srgbClr val="0432FF"/>
                </a:solidFill>
                <a:latin typeface="Cambria" panose="02040503050406030204" pitchFamily="18" charset="0"/>
              </a:rPr>
              <a:t>Bedford 2021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E470F6-A997-ACEA-07E7-80484A4A05E9}"/>
              </a:ext>
            </a:extLst>
          </p:cNvPr>
          <p:cNvSpPr/>
          <p:nvPr/>
        </p:nvSpPr>
        <p:spPr>
          <a:xfrm>
            <a:off x="8301291" y="6036392"/>
            <a:ext cx="722161" cy="7657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4258278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47959-0951-DB47-8F5A-C9DCFEBB5A7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951875" y="2927882"/>
            <a:ext cx="7886700" cy="1859404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Reverse zoonosis</a:t>
            </a:r>
            <a:r>
              <a:rPr lang="ru-RU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?</a:t>
            </a:r>
          </a:p>
          <a:p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Evolution in unknown parts of population</a:t>
            </a:r>
            <a:r>
              <a:rPr lang="ru-RU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?</a:t>
            </a:r>
          </a:p>
          <a:p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Rare chronically infected patients (&lt; 0.5%)</a:t>
            </a:r>
            <a:r>
              <a:rPr lang="ru-RU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? </a:t>
            </a:r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(Leading)</a:t>
            </a:r>
            <a:br>
              <a:rPr lang="en-US" sz="2400" dirty="0"/>
            </a:br>
            <a:endParaRPr lang="en-US" sz="24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7BB29F-3DFA-3446-B3EA-CAECE768CC7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77586" y="357734"/>
            <a:ext cx="8560989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Why mutations in VOC emerge in large sets?</a:t>
            </a:r>
            <a:endParaRPr lang="en-FR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B3BFB5-AAFC-DB4C-404E-13A4944A48C8}"/>
              </a:ext>
            </a:extLst>
          </p:cNvPr>
          <p:cNvSpPr/>
          <p:nvPr/>
        </p:nvSpPr>
        <p:spPr>
          <a:xfrm>
            <a:off x="8301291" y="6036392"/>
            <a:ext cx="722161" cy="7657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4316489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6268054-94AC-5F4C-9F05-97962504F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60" y="85957"/>
            <a:ext cx="8758990" cy="994172"/>
          </a:xfrm>
        </p:spPr>
        <p:txBody>
          <a:bodyPr>
            <a:noAutofit/>
          </a:bodyPr>
          <a:lstStyle/>
          <a:p>
            <a:pPr algn="ctr"/>
            <a:r>
              <a:rPr lang="en-US" sz="2800" dirty="0"/>
              <a:t>Less studied hypotheses of the origin of VOC of SARS CoV-2</a:t>
            </a:r>
            <a:endParaRPr lang="en-FR" sz="2800" dirty="0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FDF841-3AEC-2045-BC1E-2D39B013ED74}"/>
              </a:ext>
            </a:extLst>
          </p:cNvPr>
          <p:cNvSpPr txBox="1"/>
          <p:nvPr/>
        </p:nvSpPr>
        <p:spPr>
          <a:xfrm>
            <a:off x="6727794" y="1793898"/>
            <a:ext cx="17018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50"/>
              </a:spcBef>
              <a:spcAft>
                <a:spcPts val="675"/>
              </a:spcAft>
            </a:pPr>
            <a:r>
              <a:rPr lang="en-US" sz="1600" dirty="0" err="1">
                <a:solidFill>
                  <a:srgbClr val="220BF7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Rouzine</a:t>
            </a:r>
            <a:r>
              <a:rPr lang="ru-RU" sz="1600" dirty="0">
                <a:solidFill>
                  <a:srgbClr val="220BF7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1600" dirty="0">
                <a:solidFill>
                  <a:srgbClr val="220BF7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2023 </a:t>
            </a:r>
            <a:endParaRPr lang="ru-RU" sz="1600" dirty="0">
              <a:solidFill>
                <a:srgbClr val="220BF7"/>
              </a:solidFill>
              <a:latin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E657622-481A-B1F7-7FDE-9533A9359B68}"/>
              </a:ext>
            </a:extLst>
          </p:cNvPr>
          <p:cNvSpPr txBox="1"/>
          <p:nvPr/>
        </p:nvSpPr>
        <p:spPr>
          <a:xfrm>
            <a:off x="551692" y="1732342"/>
            <a:ext cx="75088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Hypothesis I: Multi-locus recombination</a:t>
            </a:r>
            <a:endParaRPr lang="ru-RU" sz="24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2DB8A04-6EEB-2CCA-0B34-5DE45E42E6CE}"/>
              </a:ext>
            </a:extLst>
          </p:cNvPr>
          <p:cNvSpPr/>
          <p:nvPr/>
        </p:nvSpPr>
        <p:spPr>
          <a:xfrm>
            <a:off x="2090718" y="4510189"/>
            <a:ext cx="253293" cy="292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35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22B5693-FE6E-D822-E430-3135F97C52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4998" y="3064735"/>
            <a:ext cx="5883714" cy="266231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B2B3381-202E-442D-1A30-CFAF26236B5C}"/>
              </a:ext>
            </a:extLst>
          </p:cNvPr>
          <p:cNvSpPr txBox="1"/>
          <p:nvPr/>
        </p:nvSpPr>
        <p:spPr>
          <a:xfrm>
            <a:off x="551691" y="6248362"/>
            <a:ext cx="77495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Rejected by Monte Carlo </a:t>
            </a:r>
            <a:r>
              <a:rPr lang="en-US" b="1" dirty="0">
                <a:solidFill>
                  <a:srgbClr val="0432FF"/>
                </a:solidFill>
              </a:rPr>
              <a:t>           </a:t>
            </a:r>
            <a:r>
              <a:rPr lang="en-US" sz="1600" dirty="0" err="1">
                <a:solidFill>
                  <a:srgbClr val="0432FF"/>
                </a:solidFill>
                <a:latin typeface="Cambria" panose="02040503050406030204" pitchFamily="18" charset="0"/>
              </a:rPr>
              <a:t>Likachev</a:t>
            </a:r>
            <a:r>
              <a:rPr lang="en-US" sz="1600" dirty="0">
                <a:solidFill>
                  <a:srgbClr val="0432FF"/>
                </a:solidFill>
                <a:latin typeface="Cambria" panose="02040503050406030204" pitchFamily="18" charset="0"/>
              </a:rPr>
              <a:t> </a:t>
            </a:r>
            <a:r>
              <a:rPr lang="ru-RU" sz="1600" dirty="0">
                <a:solidFill>
                  <a:srgbClr val="0432FF"/>
                </a:solidFill>
                <a:latin typeface="Cambria" panose="02040503050406030204" pitchFamily="18" charset="0"/>
              </a:rPr>
              <a:t> </a:t>
            </a:r>
            <a:r>
              <a:rPr lang="en-US" sz="1600" dirty="0">
                <a:solidFill>
                  <a:srgbClr val="0432FF"/>
                </a:solidFill>
                <a:latin typeface="Cambria" panose="02040503050406030204" pitchFamily="18" charset="0"/>
              </a:rPr>
              <a:t>&amp; </a:t>
            </a:r>
            <a:r>
              <a:rPr lang="en-US" sz="1600" dirty="0" err="1">
                <a:solidFill>
                  <a:srgbClr val="0432FF"/>
                </a:solidFill>
                <a:latin typeface="Cambria" panose="02040503050406030204" pitchFamily="18" charset="0"/>
              </a:rPr>
              <a:t>Rouzine</a:t>
            </a:r>
            <a:r>
              <a:rPr lang="en-US" sz="1600" dirty="0">
                <a:solidFill>
                  <a:srgbClr val="0432FF"/>
                </a:solidFill>
                <a:latin typeface="Cambria" panose="02040503050406030204" pitchFamily="18" charset="0"/>
              </a:rPr>
              <a:t> </a:t>
            </a:r>
            <a:r>
              <a:rPr lang="ru-RU" sz="1600" dirty="0">
                <a:solidFill>
                  <a:srgbClr val="0432FF"/>
                </a:solidFill>
                <a:latin typeface="Cambria" panose="02040503050406030204" pitchFamily="18" charset="0"/>
              </a:rPr>
              <a:t>2</a:t>
            </a:r>
            <a:r>
              <a:rPr lang="ru-RU" sz="1600" dirty="0">
                <a:solidFill>
                  <a:srgbClr val="0432FF"/>
                </a:solidFill>
              </a:rPr>
              <a:t>026</a:t>
            </a:r>
            <a:r>
              <a:rPr lang="en-US" sz="1600" dirty="0">
                <a:solidFill>
                  <a:srgbClr val="0432FF"/>
                </a:solidFill>
              </a:rPr>
              <a:t> (unpublished)</a:t>
            </a:r>
            <a:endParaRPr lang="en-RU" sz="16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5A21B3C-C10C-CDD7-3DA5-31861DF993B7}"/>
              </a:ext>
            </a:extLst>
          </p:cNvPr>
          <p:cNvSpPr/>
          <p:nvPr/>
        </p:nvSpPr>
        <p:spPr>
          <a:xfrm>
            <a:off x="8301291" y="6036392"/>
            <a:ext cx="722161" cy="7657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461493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015A6-90A7-A028-507E-FB9B6E3BB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4330" y="1225296"/>
            <a:ext cx="7659974" cy="3520440"/>
          </a:xfrm>
        </p:spPr>
        <p:txBody>
          <a:bodyPr>
            <a:normAutofit/>
          </a:bodyPr>
          <a:lstStyle/>
          <a:p>
            <a:r>
              <a:rPr lang="en-US" sz="6000" dirty="0"/>
              <a:t>Hypothesis II</a:t>
            </a:r>
            <a:br>
              <a:rPr lang="ru-RU" sz="6000" dirty="0"/>
            </a:br>
            <a:r>
              <a:rPr lang="en-US" sz="6000" dirty="0"/>
              <a:t>fitness valley</a:t>
            </a:r>
            <a:endParaRPr lang="en-RU" sz="6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6A064A-BE88-8D9D-D9B3-22160CC2E9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RU" dirty="0"/>
              <a:t>Rouzine I.M., Viruses 2025</a:t>
            </a:r>
          </a:p>
        </p:txBody>
      </p:sp>
    </p:spTree>
    <p:extLst>
      <p:ext uri="{BB962C8B-B14F-4D97-AF65-F5344CB8AC3E}">
        <p14:creationId xmlns:p14="http://schemas.microsoft.com/office/powerpoint/2010/main" val="18744746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8FD30-ADEF-71D1-EFD9-8F0CBA64E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763" y="0"/>
            <a:ext cx="7847615" cy="1208128"/>
          </a:xfrm>
        </p:spPr>
        <p:txBody>
          <a:bodyPr>
            <a:noAutofit/>
          </a:bodyPr>
          <a:lstStyle/>
          <a:p>
            <a:r>
              <a:rPr lang="en-US" sz="3200" dirty="0"/>
              <a:t>Example from the past: Why HIV evolves so fast</a:t>
            </a:r>
            <a:endParaRPr lang="en-RU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79AB6E-C5E2-5206-B0DD-348D03BE06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4745" y="2649733"/>
            <a:ext cx="5926818" cy="355954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8139CA-8F46-71B6-C7DD-806444C22605}"/>
              </a:ext>
            </a:extLst>
          </p:cNvPr>
          <p:cNvSpPr txBox="1"/>
          <p:nvPr/>
        </p:nvSpPr>
        <p:spPr>
          <a:xfrm>
            <a:off x="6627220" y="908599"/>
            <a:ext cx="22324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sz="1600" dirty="0">
                <a:solidFill>
                  <a:srgbClr val="0432FF"/>
                </a:solidFill>
                <a:latin typeface="Cambria" panose="02040503050406030204" pitchFamily="18" charset="0"/>
              </a:rPr>
              <a:t>Rouzine &amp; Coffin 1999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F432F8-ED91-10DC-278D-532ABE4194B9}"/>
              </a:ext>
            </a:extLst>
          </p:cNvPr>
          <p:cNvSpPr txBox="1"/>
          <p:nvPr/>
        </p:nvSpPr>
        <p:spPr>
          <a:xfrm>
            <a:off x="208541" y="1534071"/>
            <a:ext cx="83760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 mutation in the epitope allows the virus to escape the immune response,  but reduces viral fitness; then compensatory mutations restore it or even increase it higher than initial value</a:t>
            </a:r>
            <a:endParaRPr lang="en-RU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43B16C-1C77-9489-EECA-A33711DE05B8}"/>
              </a:ext>
            </a:extLst>
          </p:cNvPr>
          <p:cNvSpPr/>
          <p:nvPr/>
        </p:nvSpPr>
        <p:spPr>
          <a:xfrm>
            <a:off x="8301291" y="6036392"/>
            <a:ext cx="722161" cy="7657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8996836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9F434-A1A1-F579-9CBA-7BE5DA706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32738-6547-A0AE-812F-81CDA2475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-86061"/>
            <a:ext cx="7772400" cy="1609344"/>
          </a:xfrm>
        </p:spPr>
        <p:txBody>
          <a:bodyPr/>
          <a:lstStyle/>
          <a:p>
            <a:r>
              <a:rPr lang="en-US" dirty="0"/>
              <a:t>epistasis detection???</a:t>
            </a:r>
            <a:br>
              <a:rPr lang="en-US" dirty="0"/>
            </a:br>
            <a:r>
              <a:rPr lang="en-US" dirty="0"/>
              <a:t>Universal footprint of epistasis</a:t>
            </a:r>
            <a:endParaRPr lang="en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4C794D-6B78-AA36-74B2-FBAD453F4B48}"/>
              </a:ext>
            </a:extLst>
          </p:cNvPr>
          <p:cNvSpPr txBox="1"/>
          <p:nvPr/>
        </p:nvSpPr>
        <p:spPr>
          <a:xfrm>
            <a:off x="845372" y="6400142"/>
            <a:ext cx="41998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dirty="0">
                <a:solidFill>
                  <a:srgbClr val="0432FF"/>
                </a:solidFill>
              </a:rPr>
              <a:t>Pedruzzi, Barlukova, and Rouzine 2018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78238E-2C0A-9CAE-5EB3-4E415947D667}"/>
              </a:ext>
            </a:extLst>
          </p:cNvPr>
          <p:cNvSpPr/>
          <p:nvPr/>
        </p:nvSpPr>
        <p:spPr>
          <a:xfrm>
            <a:off x="8301291" y="6036392"/>
            <a:ext cx="722161" cy="7657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7F87AC-00E0-1203-5D7F-7146BA36B3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584" y="1338616"/>
            <a:ext cx="5500649" cy="488412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D7A7EB3-8D5A-C845-6B5E-57082E3A20F1}"/>
              </a:ext>
            </a:extLst>
          </p:cNvPr>
          <p:cNvSpPr txBox="1"/>
          <p:nvPr/>
        </p:nvSpPr>
        <p:spPr>
          <a:xfrm>
            <a:off x="7185933" y="3362313"/>
            <a:ext cx="1151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dirty="0"/>
              <a:t>Enthropy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D4E7E6-0956-918E-6D38-CAE9593C369C}"/>
              </a:ext>
            </a:extLst>
          </p:cNvPr>
          <p:cNvSpPr txBox="1"/>
          <p:nvPr/>
        </p:nvSpPr>
        <p:spPr>
          <a:xfrm>
            <a:off x="7058454" y="1767829"/>
            <a:ext cx="15808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dirty="0"/>
              <a:t>Fitness effect</a:t>
            </a:r>
          </a:p>
          <a:p>
            <a:r>
              <a:rPr lang="en-GB" dirty="0"/>
              <a:t>o</a:t>
            </a:r>
            <a:r>
              <a:rPr lang="en-RU" dirty="0"/>
              <a:t>f the 2 sites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919CCB-6C1D-3D3D-1B97-D9FDF89EB8F0}"/>
              </a:ext>
            </a:extLst>
          </p:cNvPr>
          <p:cNvSpPr txBox="1"/>
          <p:nvPr/>
        </p:nvSpPr>
        <p:spPr>
          <a:xfrm>
            <a:off x="7254040" y="5145515"/>
            <a:ext cx="14347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dirty="0"/>
              <a:t>Haplotype </a:t>
            </a:r>
          </a:p>
          <a:p>
            <a:r>
              <a:rPr lang="en-RU" dirty="0"/>
              <a:t>frequencies</a:t>
            </a:r>
          </a:p>
        </p:txBody>
      </p:sp>
    </p:spTree>
    <p:extLst>
      <p:ext uri="{BB962C8B-B14F-4D97-AF65-F5344CB8AC3E}">
        <p14:creationId xmlns:p14="http://schemas.microsoft.com/office/powerpoint/2010/main" val="33151179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0DA4C-3FFB-8A3E-ECB6-336702091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D9CC6-B5A7-A17B-E53E-1D457E3E9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585" y="-187272"/>
            <a:ext cx="7772400" cy="1609344"/>
          </a:xfrm>
        </p:spPr>
        <p:txBody>
          <a:bodyPr/>
          <a:lstStyle/>
          <a:p>
            <a:r>
              <a:rPr lang="en-US" dirty="0"/>
              <a:t>Telling apart epistasis from linkage: averaging over ensemble + 3d locus</a:t>
            </a:r>
            <a:endParaRPr lang="en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E22B08-F919-7FD8-BE43-96B811E3E571}"/>
              </a:ext>
            </a:extLst>
          </p:cNvPr>
          <p:cNvSpPr txBox="1"/>
          <p:nvPr/>
        </p:nvSpPr>
        <p:spPr>
          <a:xfrm>
            <a:off x="845372" y="6400142"/>
            <a:ext cx="30057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dirty="0">
                <a:solidFill>
                  <a:srgbClr val="0432FF"/>
                </a:solidFill>
              </a:rPr>
              <a:t>Pedruzzi and Rouzine 2021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9E68D7-8AFE-60EE-77F2-498256E8301D}"/>
              </a:ext>
            </a:extLst>
          </p:cNvPr>
          <p:cNvSpPr/>
          <p:nvPr/>
        </p:nvSpPr>
        <p:spPr>
          <a:xfrm>
            <a:off x="8301291" y="6036392"/>
            <a:ext cx="722161" cy="7657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31204E-D99E-8001-B9B7-D4CEC73368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148" y="1161030"/>
            <a:ext cx="3751637" cy="513640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E7F8B4E-9198-79A4-01B7-EC96A9DC49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3671" y="2347782"/>
            <a:ext cx="3568700" cy="35179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C8120C8-1EFD-66A0-F4FC-2DCB8B0A8BE0}"/>
              </a:ext>
            </a:extLst>
          </p:cNvPr>
          <p:cNvSpPr txBox="1"/>
          <p:nvPr/>
        </p:nvSpPr>
        <p:spPr>
          <a:xfrm>
            <a:off x="7465807" y="3883511"/>
            <a:ext cx="1116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dirty="0">
                <a:solidFill>
                  <a:srgbClr val="00B050"/>
                </a:solidFill>
              </a:rPr>
              <a:t>Epistasis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E2974A-A139-CBE4-069A-446F991A7694}"/>
              </a:ext>
            </a:extLst>
          </p:cNvPr>
          <p:cNvSpPr txBox="1"/>
          <p:nvPr/>
        </p:nvSpPr>
        <p:spPr>
          <a:xfrm>
            <a:off x="7546360" y="4595309"/>
            <a:ext cx="10328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dirty="0">
                <a:solidFill>
                  <a:srgbClr val="FF0000"/>
                </a:solidFill>
              </a:rPr>
              <a:t>Linkage</a:t>
            </a:r>
          </a:p>
        </p:txBody>
      </p:sp>
    </p:spTree>
    <p:extLst>
      <p:ext uri="{BB962C8B-B14F-4D97-AF65-F5344CB8AC3E}">
        <p14:creationId xmlns:p14="http://schemas.microsoft.com/office/powerpoint/2010/main" val="40911411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8FD30-ADEF-71D1-EFD9-8F0CBA64E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-49617"/>
            <a:ext cx="7772400" cy="1609344"/>
          </a:xfrm>
        </p:spPr>
        <p:txBody>
          <a:bodyPr>
            <a:normAutofit/>
          </a:bodyPr>
          <a:lstStyle/>
          <a:p>
            <a:r>
              <a:rPr lang="en-US" sz="3200" dirty="0"/>
              <a:t>Example 2: </a:t>
            </a:r>
            <a:r>
              <a:rPr lang="en-GB" sz="3200" dirty="0"/>
              <a:t>Fitness valley for the influenza A virus </a:t>
            </a:r>
            <a:r>
              <a:rPr lang="en-GB" sz="3200" dirty="0" err="1"/>
              <a:t>neurominidase</a:t>
            </a:r>
            <a:r>
              <a:rPr lang="en-GB" sz="3200" dirty="0"/>
              <a:t> protein, 2009 pandemic</a:t>
            </a:r>
            <a:endParaRPr lang="en-R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2F386E-DB75-0382-F1F4-B654076C53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521" y="1587159"/>
            <a:ext cx="4902200" cy="49784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57FB884-5E81-7200-806A-A7C821FAE75D}"/>
              </a:ext>
            </a:extLst>
          </p:cNvPr>
          <p:cNvSpPr/>
          <p:nvPr/>
        </p:nvSpPr>
        <p:spPr>
          <a:xfrm>
            <a:off x="514522" y="1879240"/>
            <a:ext cx="524656" cy="5846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597225-ADAB-7F82-D450-39367E244CC0}"/>
              </a:ext>
            </a:extLst>
          </p:cNvPr>
          <p:cNvSpPr/>
          <p:nvPr/>
        </p:nvSpPr>
        <p:spPr>
          <a:xfrm>
            <a:off x="5154393" y="1879240"/>
            <a:ext cx="524656" cy="5846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A45D50-CC70-610E-4D25-467A7B5F2C8C}"/>
              </a:ext>
            </a:extLst>
          </p:cNvPr>
          <p:cNvSpPr txBox="1"/>
          <p:nvPr/>
        </p:nvSpPr>
        <p:spPr>
          <a:xfrm>
            <a:off x="5957401" y="1350152"/>
            <a:ext cx="26720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dirty="0">
                <a:solidFill>
                  <a:srgbClr val="0432FF"/>
                </a:solidFill>
                <a:latin typeface="Cambria" panose="02040503050406030204" pitchFamily="18" charset="0"/>
              </a:rPr>
              <a:t>Pedruzzi &amp; Rouzine 2021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DB56C5-3E2E-73EE-C98B-24BF5C4CA12F}"/>
              </a:ext>
            </a:extLst>
          </p:cNvPr>
          <p:cNvSpPr txBox="1"/>
          <p:nvPr/>
        </p:nvSpPr>
        <p:spPr>
          <a:xfrm>
            <a:off x="5416721" y="4314390"/>
            <a:ext cx="295779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The primary mutation </a:t>
            </a:r>
            <a:r>
              <a:rPr lang="en-GB" dirty="0">
                <a:solidFill>
                  <a:srgbClr val="C00000"/>
                </a:solidFill>
              </a:rPr>
              <a:t>248</a:t>
            </a:r>
          </a:p>
          <a:p>
            <a:r>
              <a:rPr lang="en-GB" dirty="0"/>
              <a:t>weakens pH dependence</a:t>
            </a:r>
          </a:p>
          <a:p>
            <a:r>
              <a:rPr lang="en-GB" dirty="0"/>
              <a:t>but "damages" the protein</a:t>
            </a:r>
            <a:endParaRPr lang="en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4DA5DA-6468-723B-32DA-B36DD0CD5D7F}"/>
              </a:ext>
            </a:extLst>
          </p:cNvPr>
          <p:cNvSpPr txBox="1"/>
          <p:nvPr/>
        </p:nvSpPr>
        <p:spPr>
          <a:xfrm>
            <a:off x="5205934" y="2155772"/>
            <a:ext cx="39380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Pre- and post-pandemic sequences were mixed, and an epistatic interaction detection method was applied</a:t>
            </a:r>
            <a:endParaRPr lang="en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76E2B1-C63C-D3C0-669A-FBBE74BCF616}"/>
              </a:ext>
            </a:extLst>
          </p:cNvPr>
          <p:cNvSpPr txBox="1"/>
          <p:nvPr/>
        </p:nvSpPr>
        <p:spPr>
          <a:xfrm>
            <a:off x="5416721" y="5653889"/>
            <a:ext cx="34469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C00000"/>
                </a:solidFill>
              </a:rPr>
              <a:t>Secondary </a:t>
            </a:r>
            <a:r>
              <a:rPr lang="en-GB" dirty="0">
                <a:solidFill>
                  <a:srgbClr val="00B050"/>
                </a:solidFill>
              </a:rPr>
              <a:t>and tertiary </a:t>
            </a:r>
            <a:r>
              <a:rPr lang="en-GB" dirty="0"/>
              <a:t>mutations compensate it</a:t>
            </a:r>
            <a:endParaRPr lang="en-RU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25F788-D833-CC82-BED2-E2A6CA43F727}"/>
              </a:ext>
            </a:extLst>
          </p:cNvPr>
          <p:cNvSpPr/>
          <p:nvPr/>
        </p:nvSpPr>
        <p:spPr>
          <a:xfrm>
            <a:off x="8301291" y="6036392"/>
            <a:ext cx="722161" cy="7657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7087542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8FD30-ADEF-71D1-EFD9-8F0CBA64E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31" y="-259959"/>
            <a:ext cx="9039069" cy="1609344"/>
          </a:xfrm>
        </p:spPr>
        <p:txBody>
          <a:bodyPr>
            <a:noAutofit/>
          </a:bodyPr>
          <a:lstStyle/>
          <a:p>
            <a:r>
              <a:rPr lang="en-GB" sz="2800" dirty="0"/>
              <a:t>position of predicted compensatory mutations on the structure of </a:t>
            </a:r>
            <a:r>
              <a:rPr lang="en-GB" sz="2800" dirty="0" err="1"/>
              <a:t>neurominidase</a:t>
            </a:r>
            <a:endParaRPr lang="en-RU" sz="2800" dirty="0"/>
          </a:p>
        </p:txBody>
      </p:sp>
      <p:pic>
        <p:nvPicPr>
          <p:cNvPr id="3" name="movie3">
            <a:hlinkClick r:id="" action="ppaction://media"/>
            <a:extLst>
              <a:ext uri="{FF2B5EF4-FFF2-40B4-BE49-F238E27FC236}">
                <a16:creationId xmlns:a16="http://schemas.microsoft.com/office/drawing/2014/main" id="{4CB8F655-28D1-1357-5D91-B27D517B664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5992" y="1766812"/>
            <a:ext cx="5266323" cy="431125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A69391B-655B-450C-895B-36431470DFC9}"/>
              </a:ext>
            </a:extLst>
          </p:cNvPr>
          <p:cNvSpPr txBox="1"/>
          <p:nvPr/>
        </p:nvSpPr>
        <p:spPr>
          <a:xfrm>
            <a:off x="5850471" y="1022866"/>
            <a:ext cx="26720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dirty="0">
                <a:solidFill>
                  <a:srgbClr val="0432FF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Pedruzzi &amp; Rouzine 2021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A9EE2E-379C-9B44-CAC0-D331BB9C1F93}"/>
              </a:ext>
            </a:extLst>
          </p:cNvPr>
          <p:cNvSpPr txBox="1"/>
          <p:nvPr/>
        </p:nvSpPr>
        <p:spPr>
          <a:xfrm>
            <a:off x="6049148" y="2826907"/>
            <a:ext cx="2018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Primary mutation</a:t>
            </a:r>
            <a:endParaRPr lang="ru-RU" dirty="0">
              <a:solidFill>
                <a:srgbClr val="C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083C56-B533-B083-BD3C-7502B12C9318}"/>
              </a:ext>
            </a:extLst>
          </p:cNvPr>
          <p:cNvSpPr txBox="1"/>
          <p:nvPr/>
        </p:nvSpPr>
        <p:spPr>
          <a:xfrm>
            <a:off x="6049148" y="3244334"/>
            <a:ext cx="26369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Compensatory mutations</a:t>
            </a:r>
            <a:endParaRPr lang="en-RU" dirty="0">
              <a:solidFill>
                <a:srgbClr val="00B05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E2907B-AA93-6166-C8B9-617BC5FA1A15}"/>
              </a:ext>
            </a:extLst>
          </p:cNvPr>
          <p:cNvSpPr/>
          <p:nvPr/>
        </p:nvSpPr>
        <p:spPr>
          <a:xfrm>
            <a:off x="8301291" y="6036392"/>
            <a:ext cx="722161" cy="7657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753968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2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31AAA-F0C7-3407-C257-5AFAADB10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CF2EB-471A-02DC-46FA-4018C5EDB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3130" y="1191768"/>
            <a:ext cx="6960870" cy="3520440"/>
          </a:xfrm>
        </p:spPr>
        <p:txBody>
          <a:bodyPr>
            <a:normAutofit/>
          </a:bodyPr>
          <a:lstStyle/>
          <a:p>
            <a:r>
              <a:rPr lang="en-US" sz="4000" dirty="0"/>
              <a:t>Detection of fitness valley for SarS-CoV-2 evolution</a:t>
            </a:r>
            <a:endParaRPr lang="en-RU"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7D5570-5A14-FF4F-F255-9E697C6325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1267" y="3615267"/>
            <a:ext cx="3242733" cy="3242733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0CBF5FB-F700-8C47-5A90-9D69BDC172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82807" y="5020056"/>
            <a:ext cx="6789420" cy="1066800"/>
          </a:xfrm>
        </p:spPr>
        <p:txBody>
          <a:bodyPr/>
          <a:lstStyle/>
          <a:p>
            <a:r>
              <a:rPr lang="en-US" dirty="0"/>
              <a:t>Igor Likhachev 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31433803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12A5B-D63B-2259-63EA-68CC80CBB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891" y="-12558"/>
            <a:ext cx="7772400" cy="1609344"/>
          </a:xfrm>
        </p:spPr>
        <p:txBody>
          <a:bodyPr>
            <a:normAutofit/>
          </a:bodyPr>
          <a:lstStyle/>
          <a:p>
            <a:pPr algn="ctr"/>
            <a:r>
              <a:rPr lang="en-GB" sz="3200" dirty="0">
                <a:cs typeface="Arial" panose="020B0604020202020204" pitchFamily="34" charset="0"/>
              </a:rPr>
              <a:t>Spontaneous crossing of a fitness valley</a:t>
            </a:r>
            <a:br>
              <a:rPr lang="en-GB" sz="3200" dirty="0">
                <a:cs typeface="Arial" panose="020B0604020202020204" pitchFamily="34" charset="0"/>
              </a:rPr>
            </a:br>
            <a:r>
              <a:rPr lang="en-GB" sz="3200" dirty="0">
                <a:cs typeface="Arial" panose="020B0604020202020204" pitchFamily="34" charset="0"/>
              </a:rPr>
              <a:t>(Simulation)</a:t>
            </a:r>
            <a:endParaRPr lang="en-RU" sz="3200" dirty="0"/>
          </a:p>
        </p:txBody>
      </p:sp>
      <p:pic>
        <p:nvPicPr>
          <p:cNvPr id="3" name="Рисунок 11">
            <a:extLst>
              <a:ext uri="{FF2B5EF4-FFF2-40B4-BE49-F238E27FC236}">
                <a16:creationId xmlns:a16="http://schemas.microsoft.com/office/drawing/2014/main" id="{464AA04D-2645-C3B5-C5FD-737D57A726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02904" y="1486778"/>
            <a:ext cx="6811616" cy="5108503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A9DD538-779D-A1CF-3858-5499F108F2D0}"/>
              </a:ext>
            </a:extLst>
          </p:cNvPr>
          <p:cNvSpPr txBox="1"/>
          <p:nvPr/>
        </p:nvSpPr>
        <p:spPr>
          <a:xfrm>
            <a:off x="5600820" y="1203851"/>
            <a:ext cx="33436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dirty="0" err="1">
                <a:solidFill>
                  <a:srgbClr val="0432FF"/>
                </a:solidFill>
                <a:latin typeface="Cambria" panose="02040503050406030204" pitchFamily="18" charset="0"/>
              </a:rPr>
              <a:t>Likachev</a:t>
            </a:r>
            <a:r>
              <a:rPr lang="en-US" sz="1600" dirty="0">
                <a:solidFill>
                  <a:srgbClr val="0432FF"/>
                </a:solidFill>
                <a:latin typeface="Cambria" panose="02040503050406030204" pitchFamily="18" charset="0"/>
              </a:rPr>
              <a:t> &amp; </a:t>
            </a:r>
            <a:r>
              <a:rPr lang="en-US" sz="1600" dirty="0" err="1">
                <a:solidFill>
                  <a:srgbClr val="0432FF"/>
                </a:solidFill>
                <a:latin typeface="Cambria" panose="02040503050406030204" pitchFamily="18" charset="0"/>
              </a:rPr>
              <a:t>Rouzine</a:t>
            </a:r>
            <a:r>
              <a:rPr lang="en-US" sz="1600" dirty="0">
                <a:solidFill>
                  <a:srgbClr val="0432FF"/>
                </a:solidFill>
                <a:latin typeface="Cambria" panose="02040503050406030204" pitchFamily="18" charset="0"/>
              </a:rPr>
              <a:t> </a:t>
            </a:r>
            <a:r>
              <a:rPr lang="ru-RU" sz="1600" dirty="0">
                <a:solidFill>
                  <a:srgbClr val="0432FF"/>
                </a:solidFill>
                <a:latin typeface="Cambria" panose="02040503050406030204" pitchFamily="18" charset="0"/>
              </a:rPr>
              <a:t>2026</a:t>
            </a:r>
            <a:r>
              <a:rPr lang="en-US" sz="1600" dirty="0">
                <a:solidFill>
                  <a:srgbClr val="0432FF"/>
                </a:solidFill>
                <a:latin typeface="Cambria" panose="02040503050406030204" pitchFamily="18" charset="0"/>
              </a:rPr>
              <a:t> (preprint)</a:t>
            </a:r>
            <a:endParaRPr lang="en-RU" sz="1600" dirty="0">
              <a:latin typeface="Cambria" panose="020405030504060302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CF7BEA-E9A2-FF51-1C9F-ABC49BAE4D82}"/>
              </a:ext>
            </a:extLst>
          </p:cNvPr>
          <p:cNvSpPr txBox="1"/>
          <p:nvPr/>
        </p:nvSpPr>
        <p:spPr>
          <a:xfrm>
            <a:off x="3578087" y="6339599"/>
            <a:ext cx="202273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Time, generations</a:t>
            </a:r>
            <a:endParaRPr lang="en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C144CF-01FD-6B7B-49CF-B5E3F5B2BE41}"/>
              </a:ext>
            </a:extLst>
          </p:cNvPr>
          <p:cNvSpPr txBox="1"/>
          <p:nvPr/>
        </p:nvSpPr>
        <p:spPr>
          <a:xfrm rot="16200000">
            <a:off x="193275" y="3604633"/>
            <a:ext cx="249635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Mutation number</a:t>
            </a:r>
            <a:endParaRPr lang="en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655012-65FE-F4F3-1E2B-AEB4EE037F3D}"/>
              </a:ext>
            </a:extLst>
          </p:cNvPr>
          <p:cNvSpPr txBox="1"/>
          <p:nvPr/>
        </p:nvSpPr>
        <p:spPr>
          <a:xfrm>
            <a:off x="6062455" y="2808777"/>
            <a:ext cx="44114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</a:t>
            </a:r>
            <a:endParaRPr lang="en-RU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DF0786-049C-1809-F8A7-1BDE8E9095C4}"/>
              </a:ext>
            </a:extLst>
          </p:cNvPr>
          <p:cNvSpPr txBox="1"/>
          <p:nvPr/>
        </p:nvSpPr>
        <p:spPr>
          <a:xfrm>
            <a:off x="5303273" y="3856364"/>
            <a:ext cx="135165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Deleterious</a:t>
            </a:r>
            <a:endParaRPr lang="en-RU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21973A-179A-5F1F-7189-8379A0A9C789}"/>
              </a:ext>
            </a:extLst>
          </p:cNvPr>
          <p:cNvSpPr txBox="1"/>
          <p:nvPr/>
        </p:nvSpPr>
        <p:spPr>
          <a:xfrm>
            <a:off x="5303273" y="4756760"/>
            <a:ext cx="168507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Compensatory</a:t>
            </a:r>
            <a:endParaRPr lang="en-RU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486BA7-45FC-7BFC-0B2D-8C65F7F383EB}"/>
              </a:ext>
            </a:extLst>
          </p:cNvPr>
          <p:cNvSpPr txBox="1"/>
          <p:nvPr/>
        </p:nvSpPr>
        <p:spPr>
          <a:xfrm>
            <a:off x="3668772" y="5182761"/>
            <a:ext cx="118494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Beneficial</a:t>
            </a:r>
            <a:endParaRPr lang="en-RU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0C23A6-BD54-908F-5984-1025D7FA738A}"/>
              </a:ext>
            </a:extLst>
          </p:cNvPr>
          <p:cNvSpPr txBox="1"/>
          <p:nvPr/>
        </p:nvSpPr>
        <p:spPr>
          <a:xfrm>
            <a:off x="5659685" y="5472490"/>
            <a:ext cx="979755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Primary</a:t>
            </a:r>
            <a:endParaRPr lang="en-RU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AEEC5D3-D695-BE03-679D-C287C124305C}"/>
              </a:ext>
            </a:extLst>
          </p:cNvPr>
          <p:cNvSpPr/>
          <p:nvPr/>
        </p:nvSpPr>
        <p:spPr>
          <a:xfrm>
            <a:off x="8301291" y="6036392"/>
            <a:ext cx="722161" cy="7657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3256116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BB76A-DEB4-5C3A-C029-1590AA84E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0AA9D-439A-E479-29E2-185F1D876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7287" y="42422"/>
            <a:ext cx="7772400" cy="1609344"/>
          </a:xfrm>
        </p:spPr>
        <p:txBody>
          <a:bodyPr>
            <a:normAutofit/>
          </a:bodyPr>
          <a:lstStyle/>
          <a:p>
            <a:r>
              <a:rPr lang="en-GB" sz="4000" dirty="0"/>
              <a:t>Mutation spectrum (simulation)</a:t>
            </a:r>
            <a:endParaRPr lang="en-RU" sz="4000" dirty="0"/>
          </a:p>
        </p:txBody>
      </p:sp>
      <p:pic>
        <p:nvPicPr>
          <p:cNvPr id="4" name="Рисунок 8">
            <a:extLst>
              <a:ext uri="{FF2B5EF4-FFF2-40B4-BE49-F238E27FC236}">
                <a16:creationId xmlns:a16="http://schemas.microsoft.com/office/drawing/2014/main" id="{23555A53-DFB3-6ACF-00EA-7678EA2D71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44487" y="1739610"/>
            <a:ext cx="6051369" cy="453869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2D13A3B-F4C0-6A2C-F953-B6219322A321}"/>
              </a:ext>
            </a:extLst>
          </p:cNvPr>
          <p:cNvSpPr txBox="1"/>
          <p:nvPr/>
        </p:nvSpPr>
        <p:spPr>
          <a:xfrm>
            <a:off x="3869635" y="5996813"/>
            <a:ext cx="260840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Number of substitutions</a:t>
            </a:r>
            <a:endParaRPr lang="en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C72002-BEF0-3CBD-906F-45A87459BC5C}"/>
              </a:ext>
            </a:extLst>
          </p:cNvPr>
          <p:cNvSpPr txBox="1"/>
          <p:nvPr/>
        </p:nvSpPr>
        <p:spPr>
          <a:xfrm rot="16200000">
            <a:off x="242631" y="3452152"/>
            <a:ext cx="244169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Number of sequences</a:t>
            </a:r>
            <a:endParaRPr lang="en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213228-2FCC-4090-54BF-C2C11161C438}"/>
              </a:ext>
            </a:extLst>
          </p:cNvPr>
          <p:cNvSpPr/>
          <p:nvPr/>
        </p:nvSpPr>
        <p:spPr>
          <a:xfrm>
            <a:off x="8301291" y="6036392"/>
            <a:ext cx="722161" cy="7657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2503566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F3BD1-AA60-51C8-7F57-F58A5A976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4CA0B-67EE-88AE-290E-0A3E39B74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7691" y="-87864"/>
            <a:ext cx="8368970" cy="1609344"/>
          </a:xfrm>
        </p:spPr>
        <p:txBody>
          <a:bodyPr>
            <a:normAutofit/>
          </a:bodyPr>
          <a:lstStyle/>
          <a:p>
            <a:pPr algn="ctr"/>
            <a:r>
              <a:rPr lang="en-GB" dirty="0"/>
              <a:t>Epistasis detection error by the upgraded method</a:t>
            </a:r>
            <a:endParaRPr lang="en-RU" dirty="0"/>
          </a:p>
        </p:txBody>
      </p:sp>
      <p:pic>
        <p:nvPicPr>
          <p:cNvPr id="3" name="Рисунок 9">
            <a:extLst>
              <a:ext uri="{FF2B5EF4-FFF2-40B4-BE49-F238E27FC236}">
                <a16:creationId xmlns:a16="http://schemas.microsoft.com/office/drawing/2014/main" id="{A3A7F540-7B5C-7188-7A6D-9A341FEFD9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48142" y="2128116"/>
            <a:ext cx="5847715" cy="438594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C3BAE0B-7B49-21A1-6797-D9AC3969523D}"/>
              </a:ext>
            </a:extLst>
          </p:cNvPr>
          <p:cNvSpPr txBox="1"/>
          <p:nvPr/>
        </p:nvSpPr>
        <p:spPr>
          <a:xfrm rot="16200000">
            <a:off x="-188601" y="3992923"/>
            <a:ext cx="399955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Число последовательностей пика 1</a:t>
            </a:r>
            <a:endParaRPr lang="en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6C3032-E0AC-1261-82B7-FEDC3C9FE5A2}"/>
              </a:ext>
            </a:extLst>
          </p:cNvPr>
          <p:cNvSpPr txBox="1"/>
          <p:nvPr/>
        </p:nvSpPr>
        <p:spPr>
          <a:xfrm>
            <a:off x="2466203" y="6177367"/>
            <a:ext cx="3198311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Number of peak sequences 2</a:t>
            </a:r>
            <a:endParaRPr lang="en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EEA13B-27C1-ED57-89EC-63D5441BF5C5}"/>
              </a:ext>
            </a:extLst>
          </p:cNvPr>
          <p:cNvSpPr txBox="1"/>
          <p:nvPr/>
        </p:nvSpPr>
        <p:spPr>
          <a:xfrm>
            <a:off x="652775" y="1758784"/>
            <a:ext cx="783844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The number of missed connections out of 10. There are no false positives.</a:t>
            </a:r>
            <a:endParaRPr lang="en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1BDE6B-DC17-7146-078D-522162665D50}"/>
              </a:ext>
            </a:extLst>
          </p:cNvPr>
          <p:cNvSpPr txBox="1"/>
          <p:nvPr/>
        </p:nvSpPr>
        <p:spPr>
          <a:xfrm>
            <a:off x="5303077" y="1336814"/>
            <a:ext cx="3840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dirty="0">
                <a:solidFill>
                  <a:srgbClr val="0432FF"/>
                </a:solidFill>
              </a:rPr>
              <a:t>Based on Pedruzzi &amp; Rouzine 2021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6B9AD1-CFFB-E5F4-AEBB-09822F57D78D}"/>
              </a:ext>
            </a:extLst>
          </p:cNvPr>
          <p:cNvSpPr/>
          <p:nvPr/>
        </p:nvSpPr>
        <p:spPr>
          <a:xfrm>
            <a:off x="8301291" y="6036392"/>
            <a:ext cx="722161" cy="7657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4277805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4A5E1-EAF3-2794-35A3-2CA62BC9D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44CF2-6753-D6AD-324A-899C982E0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185" y="-211255"/>
            <a:ext cx="8368970" cy="1609344"/>
          </a:xfrm>
        </p:spPr>
        <p:txBody>
          <a:bodyPr>
            <a:normAutofit/>
          </a:bodyPr>
          <a:lstStyle/>
          <a:p>
            <a:pPr algn="ctr"/>
            <a:r>
              <a:rPr lang="en-GB" dirty="0"/>
              <a:t>Mutation spectrum of SARS-CoV-2</a:t>
            </a:r>
            <a:endParaRPr lang="en-RU" dirty="0"/>
          </a:p>
        </p:txBody>
      </p:sp>
      <p:pic>
        <p:nvPicPr>
          <p:cNvPr id="4" name="image3.png">
            <a:extLst>
              <a:ext uri="{FF2B5EF4-FFF2-40B4-BE49-F238E27FC236}">
                <a16:creationId xmlns:a16="http://schemas.microsoft.com/office/drawing/2014/main" id="{5F599515-CB5B-D441-0EC0-B6591A9968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5367" y="1947135"/>
            <a:ext cx="5652042" cy="3941492"/>
          </a:xfrm>
          <a:prstGeom prst="rect">
            <a:avLst/>
          </a:prstGeom>
          <a:ln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B7EE39A-F3B2-8110-5A90-90D9D889FB41}"/>
              </a:ext>
            </a:extLst>
          </p:cNvPr>
          <p:cNvSpPr txBox="1"/>
          <p:nvPr/>
        </p:nvSpPr>
        <p:spPr>
          <a:xfrm>
            <a:off x="516844" y="978284"/>
            <a:ext cx="83689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6000 sequences from 6 regions, 1000 from each: Africa, Asia, North America, Oceania, South America, for the period from 09/24/2020 to 09/25/2021.</a:t>
            </a:r>
            <a:endParaRPr lang="en-RU" sz="1400" dirty="0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C5DE19E3-CD9F-BF2A-617D-7349A0938E0A}"/>
              </a:ext>
            </a:extLst>
          </p:cNvPr>
          <p:cNvSpPr/>
          <p:nvPr/>
        </p:nvSpPr>
        <p:spPr>
          <a:xfrm>
            <a:off x="2837329" y="5755341"/>
            <a:ext cx="1008530" cy="416859"/>
          </a:xfrm>
          <a:custGeom>
            <a:avLst/>
            <a:gdLst>
              <a:gd name="csX0" fmla="*/ 0 w 1008530"/>
              <a:gd name="csY0" fmla="*/ 13447 h 416859"/>
              <a:gd name="csX1" fmla="*/ 0 w 1008530"/>
              <a:gd name="csY1" fmla="*/ 416859 h 416859"/>
              <a:gd name="csX2" fmla="*/ 1008530 w 1008530"/>
              <a:gd name="csY2" fmla="*/ 416859 h 416859"/>
              <a:gd name="csX3" fmla="*/ 1008530 w 1008530"/>
              <a:gd name="csY3" fmla="*/ 0 h 416859"/>
              <a:gd name="csX4" fmla="*/ 1008530 w 1008530"/>
              <a:gd name="csY4" fmla="*/ 26894 h 4168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08530" h="416859">
                <a:moveTo>
                  <a:pt x="0" y="13447"/>
                </a:moveTo>
                <a:lnTo>
                  <a:pt x="0" y="416859"/>
                </a:lnTo>
                <a:lnTo>
                  <a:pt x="1008530" y="416859"/>
                </a:lnTo>
                <a:lnTo>
                  <a:pt x="1008530" y="0"/>
                </a:lnTo>
                <a:lnTo>
                  <a:pt x="1008530" y="26894"/>
                </a:lnTo>
              </a:path>
            </a:pathLst>
          </a:cu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0C8B30-53B3-F320-2DC0-BFE4D5538721}"/>
              </a:ext>
            </a:extLst>
          </p:cNvPr>
          <p:cNvSpPr txBox="1"/>
          <p:nvPr/>
        </p:nvSpPr>
        <p:spPr>
          <a:xfrm>
            <a:off x="3051290" y="6334258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Mix</a:t>
            </a:r>
            <a:endParaRPr lang="en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71DEE4-EE48-9F4C-6CE2-849113F89B0B}"/>
              </a:ext>
            </a:extLst>
          </p:cNvPr>
          <p:cNvSpPr txBox="1"/>
          <p:nvPr/>
        </p:nvSpPr>
        <p:spPr>
          <a:xfrm>
            <a:off x="3993940" y="5594438"/>
            <a:ext cx="260840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Number of substitutions</a:t>
            </a:r>
            <a:endParaRPr lang="en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4ECBB9-59AD-1010-8998-6CCC5DA5AD25}"/>
              </a:ext>
            </a:extLst>
          </p:cNvPr>
          <p:cNvSpPr txBox="1"/>
          <p:nvPr/>
        </p:nvSpPr>
        <p:spPr>
          <a:xfrm rot="16200000">
            <a:off x="414520" y="3485083"/>
            <a:ext cx="244169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Number of sequences</a:t>
            </a:r>
            <a:endParaRPr lang="en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55FB18-6428-CD78-088C-A147628AA58A}"/>
              </a:ext>
            </a:extLst>
          </p:cNvPr>
          <p:cNvSpPr/>
          <p:nvPr/>
        </p:nvSpPr>
        <p:spPr>
          <a:xfrm>
            <a:off x="8301291" y="6036392"/>
            <a:ext cx="722161" cy="7657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3601105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01CCE-9C34-6D8B-1A13-5814FB4E8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E3220-EA35-7967-7DAE-E02991525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184" y="-157873"/>
            <a:ext cx="8368970" cy="1609344"/>
          </a:xfrm>
        </p:spPr>
        <p:txBody>
          <a:bodyPr>
            <a:normAutofit/>
          </a:bodyPr>
          <a:lstStyle/>
          <a:p>
            <a:pPr algn="ctr"/>
            <a:r>
              <a:rPr lang="en-GB" dirty="0"/>
              <a:t>Epistasis Discovered in the SARS-CoV-2 Genome</a:t>
            </a:r>
            <a:endParaRPr lang="en-RU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3EA8324-D399-4F3F-A464-0B2C962654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8712" y="1441119"/>
            <a:ext cx="5507915" cy="521844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FD56170-0AE5-AACB-24F2-21DC82258324}"/>
              </a:ext>
            </a:extLst>
          </p:cNvPr>
          <p:cNvSpPr txBox="1"/>
          <p:nvPr/>
        </p:nvSpPr>
        <p:spPr>
          <a:xfrm>
            <a:off x="6478555" y="1282194"/>
            <a:ext cx="24072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dirty="0" err="1">
                <a:solidFill>
                  <a:srgbClr val="0432FF"/>
                </a:solidFill>
                <a:latin typeface="Cambria" panose="02040503050406030204" pitchFamily="18" charset="0"/>
              </a:rPr>
              <a:t>Likachev</a:t>
            </a:r>
            <a:r>
              <a:rPr lang="en-US" sz="1600" dirty="0">
                <a:solidFill>
                  <a:srgbClr val="0432FF"/>
                </a:solidFill>
                <a:latin typeface="Cambria" panose="02040503050406030204" pitchFamily="18" charset="0"/>
              </a:rPr>
              <a:t> &amp; </a:t>
            </a:r>
            <a:r>
              <a:rPr lang="en-US" sz="1600" dirty="0" err="1">
                <a:solidFill>
                  <a:srgbClr val="0432FF"/>
                </a:solidFill>
                <a:latin typeface="Cambria" panose="02040503050406030204" pitchFamily="18" charset="0"/>
              </a:rPr>
              <a:t>Rouzine</a:t>
            </a:r>
            <a:r>
              <a:rPr lang="en-US" sz="1600" dirty="0">
                <a:solidFill>
                  <a:srgbClr val="0432FF"/>
                </a:solidFill>
                <a:latin typeface="Cambria" panose="02040503050406030204" pitchFamily="18" charset="0"/>
              </a:rPr>
              <a:t> </a:t>
            </a:r>
            <a:r>
              <a:rPr lang="ru-RU" sz="1600" dirty="0">
                <a:solidFill>
                  <a:srgbClr val="0432FF"/>
                </a:solidFill>
                <a:latin typeface="Cambria" panose="02040503050406030204" pitchFamily="18" charset="0"/>
              </a:rPr>
              <a:t>2026</a:t>
            </a:r>
            <a:endParaRPr lang="en-RU" sz="1600" dirty="0">
              <a:latin typeface="Cambria" panose="020405030504060302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FC8000-E8CE-AB2E-B1F4-478D9423FF80}"/>
              </a:ext>
            </a:extLst>
          </p:cNvPr>
          <p:cNvSpPr/>
          <p:nvPr/>
        </p:nvSpPr>
        <p:spPr>
          <a:xfrm>
            <a:off x="8301291" y="6036392"/>
            <a:ext cx="722161" cy="7657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0849395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6A6B3-FDBA-C7BC-2F3B-D838E25F9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E1AEA-CA0F-CA7C-82E7-93ECB4953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940" y="-116454"/>
            <a:ext cx="8368970" cy="1609344"/>
          </a:xfrm>
        </p:spPr>
        <p:txBody>
          <a:bodyPr>
            <a:normAutofit/>
          </a:bodyPr>
          <a:lstStyle/>
          <a:p>
            <a:pPr algn="ctr"/>
            <a:r>
              <a:rPr lang="en-GB" dirty="0"/>
              <a:t>Comparison with other methods</a:t>
            </a:r>
            <a:endParaRPr lang="en-RU" dirty="0"/>
          </a:p>
        </p:txBody>
      </p:sp>
      <p:pic>
        <p:nvPicPr>
          <p:cNvPr id="3" name="image4.png">
            <a:extLst>
              <a:ext uri="{FF2B5EF4-FFF2-40B4-BE49-F238E27FC236}">
                <a16:creationId xmlns:a16="http://schemas.microsoft.com/office/drawing/2014/main" id="{0938D1FC-0FE9-5E03-AEFE-81245A10F96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9171" y="1656067"/>
            <a:ext cx="5146508" cy="4930264"/>
          </a:xfrm>
          <a:prstGeom prst="rect">
            <a:avLst/>
          </a:prstGeom>
          <a:ln/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80C9F84-305D-CF5C-9FB3-2100ABA085FC}"/>
              </a:ext>
            </a:extLst>
          </p:cNvPr>
          <p:cNvSpPr/>
          <p:nvPr/>
        </p:nvSpPr>
        <p:spPr>
          <a:xfrm>
            <a:off x="4634969" y="1682571"/>
            <a:ext cx="2420710" cy="23137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987C8A-E504-7B84-ABBB-5A65AFB4EBFD}"/>
              </a:ext>
            </a:extLst>
          </p:cNvPr>
          <p:cNvSpPr txBox="1"/>
          <p:nvPr/>
        </p:nvSpPr>
        <p:spPr>
          <a:xfrm>
            <a:off x="297940" y="4275087"/>
            <a:ext cx="17549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1400" dirty="0">
                <a:solidFill>
                  <a:srgbClr val="0432FF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</a:rPr>
              <a:t>Rodriguez-Rivas… Weigt 2022</a:t>
            </a:r>
            <a:r>
              <a:rPr lang="en-RU" sz="1400" dirty="0">
                <a:solidFill>
                  <a:srgbClr val="0432FF"/>
                </a:solidFill>
                <a:effectLst/>
                <a:latin typeface="Cambria" panose="02040503050406030204" pitchFamily="18" charset="0"/>
              </a:rPr>
              <a:t> </a:t>
            </a:r>
            <a:endParaRPr lang="en-RU" sz="1400" dirty="0">
              <a:solidFill>
                <a:srgbClr val="0432FF"/>
              </a:solidFill>
              <a:latin typeface="Cambria" panose="020405030504060302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5E419E-616E-C4B2-7276-ACA64742B987}"/>
              </a:ext>
            </a:extLst>
          </p:cNvPr>
          <p:cNvSpPr txBox="1"/>
          <p:nvPr/>
        </p:nvSpPr>
        <p:spPr>
          <a:xfrm>
            <a:off x="6739266" y="4121199"/>
            <a:ext cx="17119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sz="1400" dirty="0">
                <a:solidFill>
                  <a:srgbClr val="0432FF"/>
                </a:solidFill>
                <a:latin typeface="Cambria" panose="02040503050406030204" pitchFamily="18" charset="0"/>
              </a:rPr>
              <a:t>Zeng</a:t>
            </a:r>
            <a:r>
              <a:rPr lang="ru-RU" sz="1400" dirty="0">
                <a:solidFill>
                  <a:srgbClr val="0432FF"/>
                </a:solidFill>
                <a:latin typeface="Cambria" panose="02040503050406030204" pitchFamily="18" charset="0"/>
              </a:rPr>
              <a:t> … </a:t>
            </a:r>
            <a:r>
              <a:rPr lang="en-RU" sz="1400" dirty="0">
                <a:solidFill>
                  <a:srgbClr val="0432FF"/>
                </a:solidFill>
                <a:latin typeface="Cambria" panose="02040503050406030204" pitchFamily="18" charset="0"/>
              </a:rPr>
              <a:t>Aurell,</a:t>
            </a:r>
            <a:r>
              <a:rPr lang="ru-RU" sz="1400" dirty="0">
                <a:solidFill>
                  <a:srgbClr val="0432FF"/>
                </a:solidFill>
                <a:latin typeface="Cambria" panose="02040503050406030204" pitchFamily="18" charset="0"/>
              </a:rPr>
              <a:t> 2020</a:t>
            </a:r>
            <a:endParaRPr lang="en-RU" sz="1400" dirty="0">
              <a:solidFill>
                <a:srgbClr val="0432FF"/>
              </a:solidFill>
              <a:latin typeface="Cambria" panose="020405030504060302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4A2760-693E-E6E4-A0FA-9A3105544F9A}"/>
              </a:ext>
            </a:extLst>
          </p:cNvPr>
          <p:cNvSpPr txBox="1"/>
          <p:nvPr/>
        </p:nvSpPr>
        <p:spPr>
          <a:xfrm>
            <a:off x="557461" y="1323558"/>
            <a:ext cx="135171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432FF"/>
                </a:solidFill>
                <a:latin typeface="Cambria" panose="02040503050406030204" pitchFamily="18" charset="0"/>
                <a:ea typeface="MS Mincho" panose="02020609040205080304" pitchFamily="49" charset="-128"/>
              </a:rPr>
              <a:t>Likhachev &amp; </a:t>
            </a:r>
            <a:r>
              <a:rPr lang="en-US" dirty="0" err="1">
                <a:solidFill>
                  <a:srgbClr val="0432FF"/>
                </a:solidFill>
                <a:latin typeface="Cambria" panose="02040503050406030204" pitchFamily="18" charset="0"/>
                <a:ea typeface="MS Mincho" panose="02020609040205080304" pitchFamily="49" charset="-128"/>
              </a:rPr>
              <a:t>Rouzine</a:t>
            </a:r>
            <a:r>
              <a:rPr lang="en-US" dirty="0">
                <a:solidFill>
                  <a:srgbClr val="0432FF"/>
                </a:solidFill>
                <a:latin typeface="Cambria" panose="02040503050406030204" pitchFamily="18" charset="0"/>
                <a:ea typeface="MS Mincho" panose="02020609040205080304" pitchFamily="49" charset="-128"/>
              </a:rPr>
              <a:t> 2026</a:t>
            </a:r>
            <a:endParaRPr lang="en-RU" dirty="0">
              <a:solidFill>
                <a:srgbClr val="0432FF"/>
              </a:solidFill>
              <a:latin typeface="Cambria" panose="020405030504060302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A9DC3A-7920-70F1-D2B1-BDB7808C2575}"/>
              </a:ext>
            </a:extLst>
          </p:cNvPr>
          <p:cNvSpPr txBox="1"/>
          <p:nvPr/>
        </p:nvSpPr>
        <p:spPr>
          <a:xfrm>
            <a:off x="4851220" y="2665361"/>
            <a:ext cx="40730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These methods have not been tested</a:t>
            </a:r>
          </a:p>
          <a:p>
            <a:r>
              <a:rPr lang="en-GB" dirty="0"/>
              <a:t>on simulated evolution.</a:t>
            </a:r>
            <a:endParaRPr lang="en-RU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016C3CD-0C81-1A84-2183-2093A59970D8}"/>
              </a:ext>
            </a:extLst>
          </p:cNvPr>
          <p:cNvCxnSpPr/>
          <p:nvPr/>
        </p:nvCxnSpPr>
        <p:spPr>
          <a:xfrm flipH="1">
            <a:off x="4244295" y="3474869"/>
            <a:ext cx="978946" cy="775571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8BB324E-417E-EF92-F110-528614E6929E}"/>
              </a:ext>
            </a:extLst>
          </p:cNvPr>
          <p:cNvCxnSpPr>
            <a:cxnSpLocks/>
          </p:cNvCxnSpPr>
          <p:nvPr/>
        </p:nvCxnSpPr>
        <p:spPr>
          <a:xfrm>
            <a:off x="6540649" y="3474869"/>
            <a:ext cx="694180" cy="64633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1D0B4FC8-F2F1-273D-0B0D-217122583702}"/>
              </a:ext>
            </a:extLst>
          </p:cNvPr>
          <p:cNvSpPr/>
          <p:nvPr/>
        </p:nvSpPr>
        <p:spPr>
          <a:xfrm>
            <a:off x="8301291" y="6036392"/>
            <a:ext cx="722161" cy="7657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4952384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D57BD-4589-4742-9179-AD03B6274E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59977" y="55878"/>
            <a:ext cx="78867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Thank you</a:t>
            </a:r>
            <a:r>
              <a:rPr lang="ru-RU" dirty="0"/>
              <a:t>!</a:t>
            </a:r>
            <a:r>
              <a:rPr lang="en-US" dirty="0"/>
              <a:t> Grazie! Gracias! Merci! </a:t>
            </a:r>
            <a:r>
              <a:rPr lang="en-US" dirty="0" err="1"/>
              <a:t>DanKe</a:t>
            </a:r>
            <a:r>
              <a:rPr lang="en-US" dirty="0"/>
              <a:t>! </a:t>
            </a:r>
            <a:r>
              <a:rPr lang="ru-RU" dirty="0"/>
              <a:t>Спасибо! </a:t>
            </a:r>
            <a:r>
              <a:rPr lang="hy-AM" dirty="0"/>
              <a:t>Շնորհակալություն</a:t>
            </a:r>
            <a:r>
              <a:rPr lang="ru-RU"/>
              <a:t>!</a:t>
            </a:r>
            <a:endParaRPr lang="en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73FFC4-8FEA-A647-929B-85059A3026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0107" y="1646194"/>
            <a:ext cx="4963785" cy="550226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EEB3C99-A052-C781-A47D-0043C7E9DBC1}"/>
              </a:ext>
            </a:extLst>
          </p:cNvPr>
          <p:cNvSpPr/>
          <p:nvPr/>
        </p:nvSpPr>
        <p:spPr>
          <a:xfrm>
            <a:off x="1919669" y="5913931"/>
            <a:ext cx="5715000" cy="1129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0E34A7-B6B1-CA84-9813-EEB22B66D8A7}"/>
              </a:ext>
            </a:extLst>
          </p:cNvPr>
          <p:cNvSpPr/>
          <p:nvPr/>
        </p:nvSpPr>
        <p:spPr>
          <a:xfrm>
            <a:off x="8301291" y="6036392"/>
            <a:ext cx="722161" cy="7657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617367440"/>
      </p:ext>
    </p:extLst>
  </p:cSld>
  <p:clrMapOvr>
    <a:masterClrMapping/>
  </p:clrMapOvr>
  <p:transition spd="slow" advTm="0">
    <p:push dir="u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{C5AF3C2B-746E-2E4B-BDEE-4C433F660135}tf10001070</Template>
  <TotalTime>6146</TotalTime>
  <Words>704</Words>
  <Application>Microsoft Macintosh PowerPoint</Application>
  <PresentationFormat>On-screen Show (4:3)</PresentationFormat>
  <Paragraphs>110</Paragraphs>
  <Slides>27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7" baseType="lpstr">
      <vt:lpstr>Arial</vt:lpstr>
      <vt:lpstr>Calibri</vt:lpstr>
      <vt:lpstr>Cambria</vt:lpstr>
      <vt:lpstr>Cambria Math</vt:lpstr>
      <vt:lpstr>Rockwell</vt:lpstr>
      <vt:lpstr>Rockwell Condensed</vt:lpstr>
      <vt:lpstr>Rockwell Extra Bold</vt:lpstr>
      <vt:lpstr>Times New Roman</vt:lpstr>
      <vt:lpstr>Wingdings</vt:lpstr>
      <vt:lpstr>Wood Type</vt:lpstr>
      <vt:lpstr>Estimating Adaptive Landscape from Genomic Data in the Presence of Strong Genetic Linkage</vt:lpstr>
      <vt:lpstr>interns who did the work</vt:lpstr>
      <vt:lpstr>Estimating the fitness effect of mutations in E. Coli</vt:lpstr>
      <vt:lpstr>Derivation of the method</vt:lpstr>
      <vt:lpstr>Determining constant C </vt:lpstr>
      <vt:lpstr>Selection coefficients plotted against their estimates (simulation)</vt:lpstr>
      <vt:lpstr>Correlations between the estimated and the actual values of selection coefficient</vt:lpstr>
      <vt:lpstr>The values of scaled selection coefficient for three chosen generations of E. Coli</vt:lpstr>
      <vt:lpstr>Histogram of fitness effect of mutation</vt:lpstr>
      <vt:lpstr>variants of Concern</vt:lpstr>
      <vt:lpstr>PowerPoint Presentation</vt:lpstr>
      <vt:lpstr>Why mutations in VOC emerge in large sets?</vt:lpstr>
      <vt:lpstr>Less studied hypotheses of the origin of VOC of SARS CoV-2</vt:lpstr>
      <vt:lpstr>Hypothesis II fitness valley</vt:lpstr>
      <vt:lpstr>Example from the past: Why HIV evolves so fast</vt:lpstr>
      <vt:lpstr>epistasis detection??? Universal footprint of epistasis</vt:lpstr>
      <vt:lpstr>Telling apart epistasis from linkage: averaging over ensemble + 3d locus</vt:lpstr>
      <vt:lpstr>Example 2: Fitness valley for the influenza A virus neurominidase protein, 2009 pandemic</vt:lpstr>
      <vt:lpstr>position of predicted compensatory mutations on the structure of neurominidase</vt:lpstr>
      <vt:lpstr>Detection of fitness valley for SarS-CoV-2 evolution</vt:lpstr>
      <vt:lpstr>Spontaneous crossing of a fitness valley (Simulation)</vt:lpstr>
      <vt:lpstr>Mutation spectrum (simulation)</vt:lpstr>
      <vt:lpstr>Epistasis detection error by the upgraded method</vt:lpstr>
      <vt:lpstr>Mutation spectrum of SARS-CoV-2</vt:lpstr>
      <vt:lpstr>Epistasis Discovered in the SARS-CoV-2 Genome</vt:lpstr>
      <vt:lpstr>Comparison with other methods</vt:lpstr>
      <vt:lpstr>Thank you! Grazie! Gracias! Merci! DanKe! Спасибо! Շնորհակալություն!</vt:lpstr>
    </vt:vector>
  </TitlesOfParts>
  <Company>UCSD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Igor Rouzine</dc:creator>
  <cp:lastModifiedBy>Microsoft Office User</cp:lastModifiedBy>
  <cp:revision>799</cp:revision>
  <dcterms:created xsi:type="dcterms:W3CDTF">2017-09-05T00:08:04Z</dcterms:created>
  <dcterms:modified xsi:type="dcterms:W3CDTF">2026-05-12T08:10:02Z</dcterms:modified>
</cp:coreProperties>
</file>